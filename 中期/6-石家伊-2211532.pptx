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6" r:id="rId4"/>
  </p:sldMasterIdLst>
  <p:notesMasterIdLst>
    <p:notesMasterId r:id="rId10"/>
  </p:notesMasterIdLst>
  <p:sldIdLst>
    <p:sldId id="257" r:id="rId5"/>
    <p:sldId id="258" r:id="rId6"/>
    <p:sldId id="259" r:id="rId7"/>
    <p:sldId id="536" r:id="rId8"/>
    <p:sldId id="537" r:id="rId9"/>
    <p:sldId id="494" r:id="rId11"/>
    <p:sldId id="534" r:id="rId12"/>
    <p:sldId id="499" r:id="rId13"/>
    <p:sldId id="526" r:id="rId14"/>
    <p:sldId id="530" r:id="rId15"/>
    <p:sldId id="504" r:id="rId16"/>
    <p:sldId id="538" r:id="rId17"/>
    <p:sldId id="53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95959"/>
    <a:srgbClr val="826159"/>
    <a:srgbClr val="EDF1F4"/>
    <a:srgbClr val="FEFFFF"/>
    <a:srgbClr val="F6DEDE"/>
    <a:srgbClr val="6B0261"/>
    <a:srgbClr val="717171"/>
    <a:srgbClr val="E1D7DF"/>
    <a:srgbClr val="B9A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70DF9-C251-406E-95B7-839C2E3FFD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解决上述问题，我们调研了图缩减领域的相关工作。主要包括图稀疏化、图凝聚、图粗化和图采样等方法。其中，图粗化技术通过将相似节点合并为超级节点，能够在保持原图关键结构的同时显著降低数据规模，非常适合我们的研究场景，因此成为了我们方案的核心。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CC8-80CA-4952-873B-B90AFBB50FB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B491-F125-4D81-8C98-61C6C51FA30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005F-A24C-42F9-9BF0-25098C4588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5BC-A300-42AE-8558-568B763D02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8002-C763-4DF7-95ED-8B866BE4A07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4F6C-55F4-4777-963D-798C8AE4F1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9F21C-9FEC-4B55-A8F6-C068DD38E4D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F256-3E5B-45FD-93C3-34F1247DF4C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A6458-0DEF-434E-94B6-F60BDE3954B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4E60-635E-4E13-8D82-A39430DAB0E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03C8-0911-47CA-B5E2-B3906C8A84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287186" y="99791"/>
            <a:ext cx="2608506" cy="894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CC8-80CA-4952-873B-B90AFBB50FB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B491-F125-4D81-8C98-61C6C51FA30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005F-A24C-42F9-9BF0-25098C4588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5BC-A300-42AE-8558-568B763D02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8002-C763-4DF7-95ED-8B866BE4A07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4F6C-55F4-4777-963D-798C8AE4F1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9F21C-9FEC-4B55-A8F6-C068DD38E4D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F256-3E5B-45FD-93C3-34F1247DF4C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A6458-0DEF-434E-94B6-F60BDE3954B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4E60-635E-4E13-8D82-A39430DAB0E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03C8-0911-47CA-B5E2-B3906C8A84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C6C1-F302-4436-8113-19B51CEF8A7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C6C1-F302-4436-8113-19B51CEF8A7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6" Type="http://schemas.openxmlformats.org/officeDocument/2006/relationships/slideLayout" Target="../slideLayouts/slideLayout1.xml"/><Relationship Id="rId15" Type="http://schemas.openxmlformats.org/officeDocument/2006/relationships/themeOverride" Target="../theme/themeOverride2.xml"/><Relationship Id="rId14" Type="http://schemas.openxmlformats.org/officeDocument/2006/relationships/image" Target="../media/image6.jpe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1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22.xml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4.xml"/><Relationship Id="rId2" Type="http://schemas.openxmlformats.org/officeDocument/2006/relationships/image" Target="../media/image1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12.jpeg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image" Target="../media/image8.png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1.png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1.png"/><Relationship Id="rId2" Type="http://schemas.openxmlformats.org/officeDocument/2006/relationships/tags" Target="../tags/tag4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5.png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6.xml"/><Relationship Id="rId2" Type="http://schemas.openxmlformats.org/officeDocument/2006/relationships/image" Target="../media/image1.png"/><Relationship Id="rId1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16.xml"/><Relationship Id="rId2" Type="http://schemas.openxmlformats.org/officeDocument/2006/relationships/image" Target="../media/image1.png"/><Relationship Id="rId19" Type="http://schemas.openxmlformats.org/officeDocument/2006/relationships/image" Target="../media/image17.jpeg"/><Relationship Id="rId18" Type="http://schemas.openxmlformats.org/officeDocument/2006/relationships/image" Target="../media/image8.png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hemeOverride" Target="../theme/themeOverride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25616/Desktop/微信图片_20250723234624.jpg微信图片_20250723234624"/>
          <p:cNvPicPr>
            <a:picLocks noChangeAspect="1"/>
          </p:cNvPicPr>
          <p:nvPr/>
        </p:nvPicPr>
        <p:blipFill>
          <a:blip r:embed="rId1">
            <a:alphaModFix amt="70000"/>
            <a:lum bright="-6000"/>
          </a:blip>
          <a:srcRect t="21482" b="21482"/>
          <a:stretch>
            <a:fillRect/>
          </a:stretch>
        </p:blipFill>
        <p:spPr>
          <a:xfrm>
            <a:off x="0" y="-1"/>
            <a:ext cx="12191999" cy="3911142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396240" y="4206239"/>
            <a:ext cx="11399520" cy="2098827"/>
            <a:chOff x="636250" y="4296564"/>
            <a:chExt cx="11399243" cy="2408551"/>
          </a:xfrm>
        </p:grpSpPr>
        <p:sp>
          <p:nvSpPr>
            <p:cNvPr id="6" name="文本占位符 3"/>
            <p:cNvSpPr txBox="1"/>
            <p:nvPr/>
          </p:nvSpPr>
          <p:spPr>
            <a:xfrm>
              <a:off x="636250" y="4296564"/>
              <a:ext cx="11399243" cy="1966051"/>
            </a:xfrm>
            <a:prstGeom prst="rect">
              <a:avLst/>
            </a:prstGeom>
            <a:noFill/>
          </p:spPr>
          <p:txBody>
            <a:bodyPr vert="horz" wrap="square" lIns="91413" tIns="45706" rIns="91413" bIns="45706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6000" b="1" kern="1200" dirty="0" smtClean="0">
                  <a:solidFill>
                    <a:srgbClr val="0C98F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基于图粗化的社交网络分析系统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的设计与实现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文本框 22"/>
            <p:cNvSpPr txBox="1"/>
            <p:nvPr/>
          </p:nvSpPr>
          <p:spPr>
            <a:xfrm>
              <a:off x="729132" y="6352987"/>
              <a:ext cx="1864572" cy="351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汇报人：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石家伊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文本框 27"/>
            <p:cNvSpPr txBox="1"/>
            <p:nvPr/>
          </p:nvSpPr>
          <p:spPr>
            <a:xfrm>
              <a:off x="5623082" y="6353150"/>
              <a:ext cx="2333602" cy="351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日期：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2026.3.26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3548" y="6381340"/>
            <a:ext cx="2112008" cy="303235"/>
          </a:xfrm>
          <a:prstGeom prst="rect">
            <a:avLst/>
          </a:prstGeom>
        </p:spPr>
      </p:pic>
      <p:sp>
        <p:nvSpPr>
          <p:cNvPr id="3" name="文本框 27"/>
          <p:cNvSpPr txBox="1"/>
          <p:nvPr/>
        </p:nvSpPr>
        <p:spPr>
          <a:xfrm>
            <a:off x="2701588" y="5998361"/>
            <a:ext cx="233365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指导老师：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温延龙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r="31"/>
          <a:stretch>
            <a:fillRect/>
          </a:stretch>
        </p:blipFill>
        <p:spPr>
          <a:xfrm>
            <a:off x="0" y="0"/>
            <a:ext cx="12191999" cy="687299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55" y="0"/>
            <a:ext cx="12191999" cy="6872990"/>
          </a:xfrm>
          <a:prstGeom prst="rect">
            <a:avLst/>
          </a:prstGeom>
          <a:gradFill flip="none" rotWithShape="1">
            <a:gsLst>
              <a:gs pos="885">
                <a:schemeClr val="bg1"/>
              </a:gs>
              <a:gs pos="44000">
                <a:schemeClr val="bg1">
                  <a:alpha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488039" y="551715"/>
            <a:ext cx="1840453" cy="7877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dist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0" b="1" kern="1200" spc="6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60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b="1" i="0" u="none" strike="noStrike" kern="1200" cap="none" spc="60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2503814" y="596670"/>
            <a:ext cx="237886" cy="74283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6167647" y="1659470"/>
            <a:ext cx="5815965" cy="4220845"/>
            <a:chOff x="6363319" y="1659470"/>
            <a:chExt cx="5815965" cy="4220845"/>
          </a:xfrm>
        </p:grpSpPr>
        <p:sp>
          <p:nvSpPr>
            <p:cNvPr id="16" name="矩形: 圆角 15"/>
            <p:cNvSpPr/>
            <p:nvPr>
              <p:custDataLst>
                <p:tags r:id="rId5"/>
              </p:custDataLst>
            </p:nvPr>
          </p:nvSpPr>
          <p:spPr>
            <a:xfrm>
              <a:off x="6363319" y="1659470"/>
              <a:ext cx="5530850" cy="4220845"/>
            </a:xfrm>
            <a:prstGeom prst="roundRect">
              <a:avLst>
                <a:gd name="adj" fmla="val 11631"/>
              </a:avLst>
            </a:prstGeom>
            <a:solidFill>
              <a:srgbClr val="E1D7D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7661894" y="1959825"/>
              <a:ext cx="4517390" cy="644525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研究问题及</a:t>
              </a:r>
              <a:r>
                <a:rPr lang="zh-CN" altLang="en-US" sz="240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相关工作情况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占位符 7"/>
            <p:cNvSpPr txBox="1"/>
            <p:nvPr>
              <p:custDataLst>
                <p:tags r:id="rId7"/>
              </p:custDataLst>
            </p:nvPr>
          </p:nvSpPr>
          <p:spPr>
            <a:xfrm>
              <a:off x="7661928" y="3996571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3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noProof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前期结果验证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占位符 9"/>
            <p:cNvSpPr txBox="1"/>
            <p:nvPr>
              <p:custDataLst>
                <p:tags r:id="rId8"/>
              </p:custDataLst>
            </p:nvPr>
          </p:nvSpPr>
          <p:spPr>
            <a:xfrm>
              <a:off x="7661928" y="5015252"/>
              <a:ext cx="414423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3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noProof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后续计划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占位符 11"/>
            <p:cNvSpPr txBox="1"/>
            <p:nvPr>
              <p:custDataLst>
                <p:tags r:id="rId9"/>
              </p:custDataLst>
            </p:nvPr>
          </p:nvSpPr>
          <p:spPr>
            <a:xfrm>
              <a:off x="7661928" y="2977889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noProof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完成的解决方案情况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10"/>
              </p:custDataLst>
            </p:nvPr>
          </p:nvSpPr>
          <p:spPr>
            <a:xfrm>
              <a:off x="6680496" y="1861081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11"/>
              </p:custDataLst>
            </p:nvPr>
          </p:nvSpPr>
          <p:spPr>
            <a:xfrm>
              <a:off x="6680496" y="2877434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12"/>
              </p:custDataLst>
            </p:nvPr>
          </p:nvSpPr>
          <p:spPr>
            <a:xfrm>
              <a:off x="6680496" y="3893787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13"/>
              </p:custDataLst>
            </p:nvPr>
          </p:nvSpPr>
          <p:spPr>
            <a:xfrm>
              <a:off x="6680496" y="4910140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流程图: 数据 12"/>
          <p:cNvSpPr/>
          <p:nvPr/>
        </p:nvSpPr>
        <p:spPr>
          <a:xfrm>
            <a:off x="912872" y="1659470"/>
            <a:ext cx="4915811" cy="4220633"/>
          </a:xfrm>
          <a:prstGeom prst="flowChartInputOutput">
            <a:avLst/>
          </a:prstGeom>
          <a:solidFill>
            <a:srgbClr val="EDE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数据 11"/>
          <p:cNvSpPr/>
          <p:nvPr/>
        </p:nvSpPr>
        <p:spPr>
          <a:xfrm>
            <a:off x="710585" y="1659471"/>
            <a:ext cx="4915811" cy="4220633"/>
          </a:xfrm>
          <a:prstGeom prst="flowChartInputOutput">
            <a:avLst/>
          </a:prstGeom>
          <a:gradFill flip="none" rotWithShape="1">
            <a:gsLst>
              <a:gs pos="0">
                <a:srgbClr val="6B0261">
                  <a:tint val="66000"/>
                  <a:satMod val="160000"/>
                </a:srgbClr>
              </a:gs>
              <a:gs pos="50000">
                <a:srgbClr val="6B0261">
                  <a:tint val="44500"/>
                  <a:satMod val="160000"/>
                </a:srgbClr>
              </a:gs>
              <a:gs pos="100000">
                <a:srgbClr val="6B0261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数据 9"/>
          <p:cNvSpPr/>
          <p:nvPr/>
        </p:nvSpPr>
        <p:spPr>
          <a:xfrm>
            <a:off x="488039" y="1659472"/>
            <a:ext cx="4915811" cy="4220633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4100" y="1659472"/>
            <a:ext cx="6330950" cy="4220633"/>
          </a:xfrm>
          <a:prstGeom prst="parallelogram">
            <a:avLst>
              <a:gd name="adj" fmla="val 2485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2" name="矩形 1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直角三角形 2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C:/Users/25616/Desktop/微信图片_20250723234641.jpg微信图片_20250723234641"/>
          <p:cNvPicPr>
            <a:picLocks noChangeAspect="1"/>
          </p:cNvPicPr>
          <p:nvPr/>
        </p:nvPicPr>
        <p:blipFill>
          <a:blip r:embed="rId1">
            <a:alphaModFix amt="70000"/>
          </a:blip>
          <a:srcRect t="17240" b="17240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6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1830705" y="4779645"/>
            <a:ext cx="8531225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54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研究问题及</a:t>
            </a:r>
            <a:r>
              <a:rPr sz="54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相关工作情况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40610" y="190546"/>
            <a:ext cx="2474236" cy="632522"/>
            <a:chOff x="513139" y="331796"/>
            <a:chExt cx="2474236" cy="63252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18084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71717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研究问题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5"/>
            </p:custDataLst>
          </p:nvPr>
        </p:nvSpPr>
        <p:spPr>
          <a:xfrm>
            <a:off x="321391" y="2607018"/>
            <a:ext cx="363794" cy="363794"/>
          </a:xfrm>
          <a:prstGeom prst="ellipse">
            <a:avLst/>
          </a:prstGeom>
          <a:solidFill>
            <a:schemeClr val="accent1">
              <a:alpha val="2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321391" y="962949"/>
            <a:ext cx="363794" cy="363794"/>
          </a:xfrm>
          <a:prstGeom prst="ellipse">
            <a:avLst/>
          </a:prstGeom>
          <a:solidFill>
            <a:schemeClr val="accent1">
              <a:alpha val="2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 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/>
          <p:cNvCxnSpPr/>
          <p:nvPr>
            <p:custDataLst>
              <p:tags r:id="rId7"/>
            </p:custDataLst>
          </p:nvPr>
        </p:nvCxnSpPr>
        <p:spPr>
          <a:xfrm>
            <a:off x="784583" y="1538529"/>
            <a:ext cx="51017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40433" y="983775"/>
            <a:ext cx="27237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研究背景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>
            <a:off x="476250" y="1539297"/>
            <a:ext cx="417870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321310" y="1604645"/>
            <a:ext cx="1137285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社交网络规模呈指数级增长，结构愈发复杂，传统分析方法在面对海量数据时，正面临着严峻的算力与存储瓶颈。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1"/>
            </p:custDataLst>
          </p:nvPr>
        </p:nvCxnSpPr>
        <p:spPr>
          <a:xfrm>
            <a:off x="784583" y="3224292"/>
            <a:ext cx="51017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40433" y="2623183"/>
            <a:ext cx="27237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主要问题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3"/>
            </p:custDataLst>
          </p:nvPr>
        </p:nvCxnSpPr>
        <p:spPr>
          <a:xfrm>
            <a:off x="476250" y="3225060"/>
            <a:ext cx="417870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5" name="矩形 34"/>
          <p:cNvSpPr/>
          <p:nvPr>
            <p:custDataLst>
              <p:tags r:id="rId14"/>
            </p:custDataLst>
          </p:nvPr>
        </p:nvSpPr>
        <p:spPr>
          <a:xfrm>
            <a:off x="440690" y="3339465"/>
            <a:ext cx="2136775" cy="537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、数据规模巨大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50" y="3891280"/>
            <a:ext cx="2258060" cy="2175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4745" y="3891280"/>
            <a:ext cx="2357755" cy="21723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文本框 16"/>
          <p:cNvSpPr txBox="1"/>
          <p:nvPr/>
        </p:nvSpPr>
        <p:spPr>
          <a:xfrm>
            <a:off x="8917940" y="4129405"/>
            <a:ext cx="277685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sym typeface="+mn-ea"/>
              </a:rPr>
              <a:t>现代社交图谱多维特征复杂，传统模型或简单抽样难以完整捕捉节点间深层关联。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30000"/>
              </a:lnSpc>
            </a:pPr>
            <a:endParaRPr kumimoji="0" lang="zh-CN" altLang="en-US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81325" y="4129405"/>
            <a:ext cx="2986405" cy="176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sym typeface="+mn-ea"/>
              </a:rPr>
              <a:t>社交网络规模呈指数级增长，内存与显存资源消耗巨大，使用传统方法难以在单机上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sym typeface="+mn-ea"/>
              </a:rPr>
              <a:t>并行处理。</a:t>
            </a:r>
            <a:endParaRPr lang="zh-CN" altLang="en-US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7"/>
            </p:custDataLst>
          </p:nvPr>
        </p:nvSpPr>
        <p:spPr>
          <a:xfrm>
            <a:off x="6035675" y="3315970"/>
            <a:ext cx="2136775" cy="537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rPr>
              <a:t>结构刻画困难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02300" y="1308100"/>
            <a:ext cx="5930900" cy="965200"/>
          </a:xfrm>
          <a:prstGeom prst="roundRect">
            <a:avLst>
              <a:gd name="adj" fmla="val 17105"/>
            </a:avLst>
          </a:prstGeom>
          <a:solidFill>
            <a:srgbClr val="E1D7D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图稀疏化：</a:t>
            </a:r>
            <a:r>
              <a:rPr lang="zh-CN" altLang="en-US"/>
              <a:t>主要减少边数，保持割或谱性质</a:t>
            </a:r>
            <a:r>
              <a:rPr lang="zh-CN" altLang="en-US" sz="1100"/>
              <a:t>。</a:t>
            </a:r>
            <a:endParaRPr lang="zh-CN" altLang="en-US" sz="1100"/>
          </a:p>
        </p:txBody>
      </p:sp>
      <p:sp>
        <p:nvSpPr>
          <p:cNvPr id="3" name="AutoShape 3"/>
          <p:cNvSpPr/>
          <p:nvPr/>
        </p:nvSpPr>
        <p:spPr>
          <a:xfrm>
            <a:off x="1104900" y="241300"/>
            <a:ext cx="535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相关工作：图缩减技术</a:t>
            </a:r>
            <a:endParaRPr lang="en-US" sz="3200" b="1" i="0" u="none" strike="noStrike">
              <a:solidFill>
                <a:srgbClr val="71717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7692" t="36153" r="13461" b="36923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4800" y="6375400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 rot="5400000">
            <a:off x="4279900" y="1168400"/>
            <a:ext cx="1282700" cy="1282700"/>
          </a:xfrm>
          <a:prstGeom prst="blockArc">
            <a:avLst>
              <a:gd name="adj1" fmla="val 10800000"/>
              <a:gd name="adj2" fmla="val 149699"/>
              <a:gd name="adj3" fmla="val 6982"/>
            </a:avLst>
          </a:prstGeom>
          <a:solidFill>
            <a:srgbClr val="6B0261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 rot="5400000" flipV="1">
            <a:off x="4279900" y="2362200"/>
            <a:ext cx="1282700" cy="1282700"/>
          </a:xfrm>
          <a:prstGeom prst="blockArc">
            <a:avLst>
              <a:gd name="adj1" fmla="val 10800000"/>
              <a:gd name="adj2" fmla="val 149699"/>
              <a:gd name="adj3" fmla="val 6982"/>
            </a:avLst>
          </a:prstGeom>
          <a:solidFill>
            <a:srgbClr val="6B0261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 rot="5400000">
            <a:off x="4279900" y="3556000"/>
            <a:ext cx="1282700" cy="1282700"/>
          </a:xfrm>
          <a:prstGeom prst="blockArc">
            <a:avLst>
              <a:gd name="adj1" fmla="val 10800000"/>
              <a:gd name="adj2" fmla="val 149699"/>
              <a:gd name="adj3" fmla="val 6982"/>
            </a:avLst>
          </a:prstGeom>
          <a:solidFill>
            <a:srgbClr val="6B0261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 rot="5400000" flipV="1">
            <a:off x="4279900" y="4749800"/>
            <a:ext cx="1282700" cy="1282700"/>
          </a:xfrm>
          <a:prstGeom prst="blockArc">
            <a:avLst>
              <a:gd name="adj1" fmla="val 10800000"/>
              <a:gd name="adj2" fmla="val 149699"/>
              <a:gd name="adj3" fmla="val 6982"/>
            </a:avLst>
          </a:prstGeom>
          <a:solidFill>
            <a:srgbClr val="6B0261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57700" y="1371600"/>
            <a:ext cx="914400" cy="914400"/>
          </a:xfrm>
          <a:prstGeom prst="ellipse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57700" y="2552700"/>
            <a:ext cx="914400" cy="9144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B.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57700" y="3746500"/>
            <a:ext cx="914400" cy="914400"/>
          </a:xfrm>
          <a:prstGeom prst="ellipse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57700" y="4940300"/>
            <a:ext cx="914400" cy="9144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ctr" rotWithShape="0">
              <a:srgbClr val="767171">
                <a:alpha val="5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D.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702300" y="2501900"/>
            <a:ext cx="5930900" cy="965200"/>
          </a:xfrm>
          <a:prstGeom prst="roundRect">
            <a:avLst>
              <a:gd name="adj" fmla="val 17105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图凝聚：</a:t>
            </a:r>
            <a:r>
              <a:rPr lang="zh-CN" altLang="en-US"/>
              <a:t>生成小规模合成图以替代训练数据，同时保留</a:t>
            </a:r>
            <a:r>
              <a:rPr lang="en-US" altLang="zh-CN"/>
              <a:t> GNN </a:t>
            </a:r>
            <a:r>
              <a:rPr lang="zh-CN" altLang="en-US"/>
              <a:t>的性能。强调训练成本与效果权衡。</a:t>
            </a:r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5702300" y="3683000"/>
            <a:ext cx="5930900" cy="965200"/>
          </a:xfrm>
          <a:prstGeom prst="roundRect">
            <a:avLst>
              <a:gd name="adj" fmla="val 17105"/>
            </a:avLst>
          </a:prstGeom>
          <a:solidFill>
            <a:srgbClr val="B9A3B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图粗化：</a:t>
            </a:r>
            <a:r>
              <a:rPr lang="zh-CN" altLang="en-US"/>
              <a:t>将节点分组并合并为超级节点，将原始组间边聚合为超级边，构造多层级粗图。</a:t>
            </a:r>
            <a:endParaRPr lang="zh-CN" altLang="en-US"/>
          </a:p>
        </p:txBody>
      </p:sp>
      <p:sp>
        <p:nvSpPr>
          <p:cNvPr id="19" name="AutoShape 19"/>
          <p:cNvSpPr/>
          <p:nvPr/>
        </p:nvSpPr>
        <p:spPr>
          <a:xfrm>
            <a:off x="5702300" y="4940300"/>
            <a:ext cx="5930900" cy="965200"/>
          </a:xfrm>
          <a:prstGeom prst="roundRect">
            <a:avLst>
              <a:gd name="adj" fmla="val 17105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图采样</a:t>
            </a:r>
            <a:r>
              <a:rPr lang="zh-CN" altLang="en-US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/>
              <a:t>选取节点</a:t>
            </a:r>
            <a:r>
              <a:rPr lang="en-US" altLang="zh-CN"/>
              <a:t>/</a:t>
            </a:r>
            <a:r>
              <a:rPr lang="zh-CN" altLang="en-US"/>
              <a:t>边子集近似原图统计，适合快速估计。</a:t>
            </a:r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>
            <a:off x="3494405" y="1139825"/>
            <a:ext cx="593090" cy="4892675"/>
          </a:xfrm>
          <a:prstGeom prst="leftBrace">
            <a:avLst>
              <a:gd name="adj1" fmla="val 8333"/>
              <a:gd name="adj2" fmla="val 50188"/>
            </a:avLst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193675" y="2424430"/>
            <a:ext cx="2973070" cy="23514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44500" y="2607310"/>
            <a:ext cx="267970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图粗化技术在降低图规模的同时，可以完整保留深层结构的关联，在社交网络图中类似具有将节点分类的语义</a:t>
            </a:r>
            <a:endParaRPr lang="zh-CN" altLang="en-US" b="1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C:/Users/25616/Desktop/微信图片_20250723234653.jpg微信图片_20250723234653"/>
          <p:cNvPicPr>
            <a:picLocks noChangeAspect="1"/>
          </p:cNvPicPr>
          <p:nvPr/>
        </p:nvPicPr>
        <p:blipFill>
          <a:blip r:embed="rId1">
            <a:alphaModFix amt="70000"/>
          </a:blip>
          <a:srcRect t="17240" b="17240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78020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54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完成的解决方案情况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40610" y="190546"/>
            <a:ext cx="4506236" cy="632522"/>
            <a:chOff x="513139" y="331796"/>
            <a:chExt cx="4506236" cy="63252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8404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3200" b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解决方案与技术路线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5"/>
            </p:custDataLst>
          </p:nvPr>
        </p:nvGrpSpPr>
        <p:grpSpPr>
          <a:xfrm>
            <a:off x="7929275" y="1604010"/>
            <a:ext cx="3592800" cy="1657350"/>
            <a:chOff x="7099651" y="1812380"/>
            <a:chExt cx="4404957" cy="1535341"/>
          </a:xfrm>
        </p:grpSpPr>
        <p:sp>
          <p:nvSpPr>
            <p:cNvPr id="21" name="ïṡļíḍê"/>
            <p:cNvSpPr txBox="1"/>
            <p:nvPr>
              <p:custDataLst>
                <p:tags r:id="rId6"/>
              </p:custDataLst>
            </p:nvPr>
          </p:nvSpPr>
          <p:spPr>
            <a:xfrm>
              <a:off x="7745120" y="1812380"/>
              <a:ext cx="3759488" cy="43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t" anchorCtr="0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Roboto Regular "/>
                  <a:ea typeface="微软雅黑" panose="020B0503020204020204" pitchFamily="34" charset="-122"/>
                  <a:cs typeface="+mn-cs"/>
                </a:rPr>
                <a:t>选择基线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Roboto Regular "/>
                  <a:ea typeface="微软雅黑" panose="020B0503020204020204" pitchFamily="34" charset="-122"/>
                  <a:cs typeface="+mn-cs"/>
                </a:rPr>
                <a:t>方法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ïšľîḑê"/>
            <p:cNvSpPr txBox="1"/>
            <p:nvPr>
              <p:custDataLst>
                <p:tags r:id="rId7"/>
              </p:custDataLst>
            </p:nvPr>
          </p:nvSpPr>
          <p:spPr>
            <a:xfrm>
              <a:off x="7099651" y="2226510"/>
              <a:ext cx="4404630" cy="1121211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引入图粗化UGC方法，构建免训练、轻量级的社交网络分析系统。</a:t>
              </a:r>
              <a:endPara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成功复现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UGC</a:t>
              </a:r>
              <a:r>
                <a:rPr kumimoji="0" lang="zh-CN" alt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算法，在标准数据集上验证其有效性。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8"/>
            </p:custDataLst>
          </p:nvPr>
        </p:nvGrpSpPr>
        <p:grpSpPr>
          <a:xfrm>
            <a:off x="7929951" y="4196080"/>
            <a:ext cx="3590853" cy="1820545"/>
            <a:chOff x="7622269" y="4291876"/>
            <a:chExt cx="3898217" cy="1820505"/>
          </a:xfrm>
        </p:grpSpPr>
        <p:sp>
          <p:nvSpPr>
            <p:cNvPr id="24" name="î$ḻíḋê"/>
            <p:cNvSpPr txBox="1"/>
            <p:nvPr>
              <p:custDataLst>
                <p:tags r:id="rId9"/>
              </p:custDataLst>
            </p:nvPr>
          </p:nvSpPr>
          <p:spPr>
            <a:xfrm>
              <a:off x="8349500" y="4291876"/>
              <a:ext cx="3170986" cy="43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t" anchorCtr="0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Roboto Regular "/>
                  <a:ea typeface="微软雅黑" panose="020B0503020204020204" pitchFamily="34" charset="-122"/>
                  <a:cs typeface="+mn-cs"/>
                </a:rPr>
                <a:t>适配评估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îš1iḑê"/>
            <p:cNvSpPr txBox="1"/>
            <p:nvPr>
              <p:custDataLst>
                <p:tags r:id="rId10"/>
              </p:custDataLst>
            </p:nvPr>
          </p:nvSpPr>
          <p:spPr>
            <a:xfrm>
              <a:off x="7622269" y="4731293"/>
              <a:ext cx="3898217" cy="138108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Roboto Regular "/>
                  <a:ea typeface="微软雅黑" panose="020B0503020204020204" pitchFamily="34" charset="-122"/>
                  <a:cs typeface="+mn-cs"/>
                </a:rPr>
                <a:t>尝试</a:t>
              </a:r>
              <a:r>
                <a:rPr 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将UGC</a:t>
              </a:r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方法</a:t>
              </a:r>
              <a:r>
                <a:rPr 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应用于社交网络数据，并进行初步实验对比。</a:t>
              </a:r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进一步探究要解决的问题。</a:t>
              </a:r>
              <a:endParaRPr lang="en-US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1"/>
            </p:custDataLst>
          </p:nvPr>
        </p:nvGrpSpPr>
        <p:grpSpPr>
          <a:xfrm>
            <a:off x="673100" y="4195984"/>
            <a:ext cx="3490513" cy="1820505"/>
            <a:chOff x="673100" y="4291876"/>
            <a:chExt cx="4176031" cy="1820505"/>
          </a:xfrm>
        </p:grpSpPr>
        <p:sp>
          <p:nvSpPr>
            <p:cNvPr id="30" name="ïsḻîdé"/>
            <p:cNvSpPr txBox="1"/>
            <p:nvPr>
              <p:custDataLst>
                <p:tags r:id="rId12"/>
              </p:custDataLst>
            </p:nvPr>
          </p:nvSpPr>
          <p:spPr>
            <a:xfrm>
              <a:off x="673100" y="4291876"/>
              <a:ext cx="3639397" cy="43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Roboto Regular "/>
                  <a:ea typeface="微软雅黑" panose="020B0503020204020204" pitchFamily="34" charset="-122"/>
                  <a:cs typeface="+mn-cs"/>
                </a:rPr>
                <a:t>数据分析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ïṥļíḋé"/>
            <p:cNvSpPr txBox="1"/>
            <p:nvPr>
              <p:custDataLst>
                <p:tags r:id="rId13"/>
              </p:custDataLst>
            </p:nvPr>
          </p:nvSpPr>
          <p:spPr>
            <a:xfrm>
              <a:off x="673100" y="4731292"/>
              <a:ext cx="4176031" cy="138108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 marR="0" lvl="0" indent="0" algn="l" defTabSz="914400" rtl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对UGC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标准数据集以及社交网络数据集</a:t>
              </a:r>
              <a:r>
                <a:rPr 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进行特征分析，识别关键网络结构问题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Noto Sans SC" panose="020B0200000000000000" charset="-122"/>
                </a:rPr>
                <a:t>。</a:t>
              </a:r>
              <a:endPara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  <a:p>
              <a:pPr marR="0" lvl="0" indent="0" algn="l" defTabSz="914400" rtl="0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14"/>
            </p:custDataLst>
          </p:nvPr>
        </p:nvGrpSpPr>
        <p:grpSpPr>
          <a:xfrm>
            <a:off x="671504" y="1603993"/>
            <a:ext cx="3050540" cy="1757680"/>
            <a:chOff x="673101" y="1709588"/>
            <a:chExt cx="3369107" cy="1517258"/>
          </a:xfrm>
        </p:grpSpPr>
        <p:sp>
          <p:nvSpPr>
            <p:cNvPr id="33" name="ís1îďê"/>
            <p:cNvSpPr txBox="1"/>
            <p:nvPr>
              <p:custDataLst>
                <p:tags r:id="rId15"/>
              </p:custDataLst>
            </p:nvPr>
          </p:nvSpPr>
          <p:spPr>
            <a:xfrm>
              <a:off x="673101" y="1709588"/>
              <a:ext cx="3076574" cy="43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t" anchorCtr="0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en-US" sz="2400" b="1">
                  <a:solidFill>
                    <a:srgbClr val="6B02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数据</a:t>
              </a:r>
              <a:r>
                <a:rPr lang="zh-CN" altLang="en-US" sz="2400" b="1">
                  <a:solidFill>
                    <a:srgbClr val="6B02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集</a:t>
              </a:r>
              <a:r>
                <a:rPr lang="zh-CN" altLang="en-US" sz="2400" b="1">
                  <a:solidFill>
                    <a:srgbClr val="6B02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选取</a:t>
              </a:r>
              <a:endParaRPr lang="zh-CN" altLang="en-US" sz="2400" b="1">
                <a:solidFill>
                  <a:srgbClr val="6B02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iSḻîḍê"/>
            <p:cNvSpPr txBox="1"/>
            <p:nvPr>
              <p:custDataLst>
                <p:tags r:id="rId16"/>
              </p:custDataLst>
            </p:nvPr>
          </p:nvSpPr>
          <p:spPr>
            <a:xfrm>
              <a:off x="675205" y="2110828"/>
              <a:ext cx="3367003" cy="11160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选取Facebook、Twitter、TWeibo三个典型</a:t>
              </a:r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社交网络</a:t>
              </a:r>
              <a:r>
                <a:rPr 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数据集。</a:t>
              </a:r>
              <a:endPara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endParaRPr>
            </a:p>
          </p:txBody>
        </p:sp>
      </p:grpSp>
      <p:sp>
        <p:nvSpPr>
          <p:cNvPr id="35" name="矩形: 圆角 34"/>
          <p:cNvSpPr/>
          <p:nvPr>
            <p:custDataLst>
              <p:tags r:id="rId17"/>
            </p:custDataLst>
          </p:nvPr>
        </p:nvSpPr>
        <p:spPr>
          <a:xfrm>
            <a:off x="444500" y="1411780"/>
            <a:ext cx="5511800" cy="2160000"/>
          </a:xfrm>
          <a:prstGeom prst="roundRect">
            <a:avLst>
              <a:gd name="adj" fmla="val 697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 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: 圆角 35"/>
          <p:cNvSpPr/>
          <p:nvPr>
            <p:custDataLst>
              <p:tags r:id="rId18"/>
            </p:custDataLst>
          </p:nvPr>
        </p:nvSpPr>
        <p:spPr>
          <a:xfrm>
            <a:off x="6235700" y="1411780"/>
            <a:ext cx="5511800" cy="2160000"/>
          </a:xfrm>
          <a:prstGeom prst="roundRect">
            <a:avLst>
              <a:gd name="adj" fmla="val 697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 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: 圆角 38"/>
          <p:cNvSpPr/>
          <p:nvPr>
            <p:custDataLst>
              <p:tags r:id="rId19"/>
            </p:custDataLst>
          </p:nvPr>
        </p:nvSpPr>
        <p:spPr>
          <a:xfrm>
            <a:off x="444500" y="3856490"/>
            <a:ext cx="5511800" cy="2160000"/>
          </a:xfrm>
          <a:prstGeom prst="roundRect">
            <a:avLst>
              <a:gd name="adj" fmla="val 697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 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: 圆角 39"/>
          <p:cNvSpPr/>
          <p:nvPr>
            <p:custDataLst>
              <p:tags r:id="rId20"/>
            </p:custDataLst>
          </p:nvPr>
        </p:nvSpPr>
        <p:spPr>
          <a:xfrm>
            <a:off x="6235700" y="3856490"/>
            <a:ext cx="5511800" cy="2160000"/>
          </a:xfrm>
          <a:prstGeom prst="roundRect">
            <a:avLst>
              <a:gd name="adj" fmla="val 697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 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ís1îďê"/>
          <p:cNvSpPr txBox="1"/>
          <p:nvPr>
            <p:custDataLst>
              <p:tags r:id="rId21"/>
            </p:custDataLst>
          </p:nvPr>
        </p:nvSpPr>
        <p:spPr>
          <a:xfrm>
            <a:off x="3722326" y="1661441"/>
            <a:ext cx="2785668" cy="13684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reflection blurRad="6350" stA="30000" endPos="580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reflection blurRad="6350" stA="30000" endPos="58000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ís1îďê"/>
          <p:cNvSpPr txBox="1"/>
          <p:nvPr>
            <p:custDataLst>
              <p:tags r:id="rId22"/>
            </p:custDataLst>
          </p:nvPr>
        </p:nvSpPr>
        <p:spPr>
          <a:xfrm>
            <a:off x="5668532" y="1661441"/>
            <a:ext cx="2785668" cy="13684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reflection blurRad="6350" stA="30000" endPos="580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reflection blurRad="6350" stA="30000" endPos="58000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ís1îďê"/>
          <p:cNvSpPr txBox="1"/>
          <p:nvPr>
            <p:custDataLst>
              <p:tags r:id="rId23"/>
            </p:custDataLst>
          </p:nvPr>
        </p:nvSpPr>
        <p:spPr>
          <a:xfrm>
            <a:off x="3722326" y="4593014"/>
            <a:ext cx="2785668" cy="13684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reflection blurRad="6350" stA="30000" endPos="580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reflection blurRad="6350" stA="30000" endPos="58000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s1îďê"/>
          <p:cNvSpPr txBox="1"/>
          <p:nvPr>
            <p:custDataLst>
              <p:tags r:id="rId24"/>
            </p:custDataLst>
          </p:nvPr>
        </p:nvSpPr>
        <p:spPr>
          <a:xfrm>
            <a:off x="5668532" y="4593014"/>
            <a:ext cx="2785668" cy="13684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reflection blurRad="6350" stA="30000" endPos="580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reflection blurRad="6350" stA="30000" endPos="58000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菱形 10"/>
          <p:cNvSpPr/>
          <p:nvPr>
            <p:custDataLst>
              <p:tags r:id="rId25"/>
            </p:custDataLst>
          </p:nvPr>
        </p:nvSpPr>
        <p:spPr>
          <a:xfrm>
            <a:off x="4575015" y="2201273"/>
            <a:ext cx="3041970" cy="2941682"/>
          </a:xfrm>
          <a:prstGeom prst="diamond">
            <a:avLst/>
          </a:prstGeom>
          <a:blipFill dpi="0" rotWithShape="1"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7639" r="-27639"/>
            </a:stretch>
          </a:blip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25616/Desktop/640 (1).jpg640 (1)"/>
          <p:cNvPicPr>
            <a:picLocks noChangeAspect="1"/>
          </p:cNvPicPr>
          <p:nvPr/>
        </p:nvPicPr>
        <p:blipFill>
          <a:blip r:embed="rId1">
            <a:alphaModFix amt="70000"/>
          </a:blip>
          <a:srcRect t="24786" b="24786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en-US" altLang="zh-CN" sz="720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86783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前期结果验证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043940"/>
            <a:ext cx="11243945" cy="523240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40610" y="190546"/>
            <a:ext cx="975636" cy="632522"/>
            <a:chOff x="513139" y="331796"/>
            <a:chExt cx="975636" cy="63252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098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06366" y="239503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遇到问题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33185" y="1447800"/>
            <a:ext cx="4894580" cy="537210"/>
            <a:chOff x="10131" y="2280"/>
            <a:chExt cx="7708" cy="846"/>
          </a:xfrm>
        </p:grpSpPr>
        <p:sp>
          <p:nvSpPr>
            <p:cNvPr id="19" name="矩形 18"/>
            <p:cNvSpPr/>
            <p:nvPr/>
          </p:nvSpPr>
          <p:spPr>
            <a:xfrm>
              <a:off x="10131" y="2468"/>
              <a:ext cx="7708" cy="472"/>
            </a:xfrm>
            <a:prstGeom prst="rect">
              <a:avLst/>
            </a:prstGeom>
            <a:solidFill>
              <a:srgbClr val="F6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131" y="2280"/>
              <a:ext cx="3574" cy="8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en-US" b="1" dirty="0" smtClean="0">
                  <a:latin typeface="Arial" panose="020B0604020202020204" pitchFamily="34" charset="0"/>
                  <a:ea typeface="微软雅黑" panose="020B0503020204020204" pitchFamily="34" charset="-122"/>
                </a:rPr>
                <a:t>标签形态不兼容</a:t>
              </a:r>
              <a:endPara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9197340" y="3041650"/>
            <a:ext cx="1924050" cy="654050"/>
          </a:xfrm>
          <a:prstGeom prst="rect">
            <a:avLst/>
          </a:prstGeom>
          <a:solidFill>
            <a:srgbClr val="F6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139555" y="3041650"/>
            <a:ext cx="2269490" cy="826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特征维度过高，</a:t>
            </a:r>
            <a:endParaRPr lang="zh-CN" altLang="en-US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数据集过大</a:t>
            </a:r>
            <a:endParaRPr lang="zh-CN" altLang="en-US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857875" y="5221605"/>
            <a:ext cx="4913630" cy="537845"/>
            <a:chOff x="10161" y="2310"/>
            <a:chExt cx="7738" cy="847"/>
          </a:xfrm>
        </p:grpSpPr>
        <p:sp>
          <p:nvSpPr>
            <p:cNvPr id="39" name="矩形 38"/>
            <p:cNvSpPr/>
            <p:nvPr/>
          </p:nvSpPr>
          <p:spPr>
            <a:xfrm>
              <a:off x="10191" y="2468"/>
              <a:ext cx="7708" cy="472"/>
            </a:xfrm>
            <a:prstGeom prst="rect">
              <a:avLst/>
            </a:prstGeom>
            <a:solidFill>
              <a:srgbClr val="F6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0161" y="2310"/>
              <a:ext cx="3574" cy="8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en-US" b="1" dirty="0" smtClean="0">
                  <a:latin typeface="Arial" panose="020B0604020202020204" pitchFamily="34" charset="0"/>
                  <a:ea typeface="微软雅黑" panose="020B0503020204020204" pitchFamily="34" charset="-122"/>
                </a:rPr>
                <a:t>社交网络存在</a:t>
              </a:r>
              <a:r>
                <a:rPr lang="zh-CN" altLang="en-US" b="1" dirty="0" smtClean="0">
                  <a:latin typeface="Arial" panose="020B0604020202020204" pitchFamily="34" charset="0"/>
                  <a:ea typeface="微软雅黑" panose="020B0503020204020204" pitchFamily="34" charset="-122"/>
                </a:rPr>
                <a:t>有向图</a:t>
              </a:r>
              <a:endPara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矩形 40"/>
          <p:cNvSpPr/>
          <p:nvPr/>
        </p:nvSpPr>
        <p:spPr>
          <a:xfrm>
            <a:off x="6118860" y="2002155"/>
            <a:ext cx="3530600" cy="327025"/>
          </a:xfrm>
          <a:prstGeom prst="rect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254115" y="1925955"/>
            <a:ext cx="40640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算法核心异质性因子</a:t>
            </a:r>
            <a:r>
              <a:rPr lang="en-US" altLang="zh-CN" b="1" dirty="0" smtClean="0">
                <a:latin typeface="黑体" panose="02010609060101010101" charset="-122"/>
                <a:ea typeface="黑体" panose="02010609060101010101" charset="-122"/>
              </a:rPr>
              <a:t>α</a:t>
            </a: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难以计算</a:t>
            </a:r>
            <a:endParaRPr lang="zh-CN" altLang="en-US" b="1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815070" y="3783965"/>
            <a:ext cx="2593975" cy="605790"/>
          </a:xfrm>
          <a:prstGeom prst="rect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130000"/>
              </a:lnSpc>
            </a:pP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算法核心异质性因子</a:t>
            </a:r>
            <a:r>
              <a:rPr lang="en-US" altLang="zh-CN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α</a:t>
            </a: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难以计算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815070" y="3783965"/>
            <a:ext cx="2593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zh-CN" b="1" dirty="0" smtClean="0">
                <a:latin typeface="黑体" panose="02010609060101010101" charset="-122"/>
                <a:ea typeface="黑体" panose="02010609060101010101" charset="-122"/>
              </a:rPr>
              <a:t>UGC</a:t>
            </a: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增广特征拼接机制引发</a:t>
            </a: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内存不足</a:t>
            </a:r>
            <a:endParaRPr lang="zh-CN" altLang="en-US" b="1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608955" y="5756275"/>
            <a:ext cx="5646420" cy="327025"/>
          </a:xfrm>
          <a:prstGeom prst="rect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533390" y="5759450"/>
            <a:ext cx="4969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打破</a:t>
            </a:r>
            <a:r>
              <a:rPr lang="en-US" altLang="zh-CN" b="1" dirty="0" smtClean="0">
                <a:latin typeface="黑体" panose="02010609060101010101" charset="-122"/>
                <a:ea typeface="黑体" panose="02010609060101010101" charset="-122"/>
              </a:rPr>
              <a:t>UGC</a:t>
            </a: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方法对称拉普拉斯矩阵的</a:t>
            </a: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前提假设</a:t>
            </a:r>
            <a:endParaRPr lang="zh-CN" altLang="en-US" b="1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627245" y="1036955"/>
            <a:ext cx="2665095" cy="41656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440610" y="190546"/>
            <a:ext cx="2474236" cy="632522"/>
            <a:chOff x="513139" y="331796"/>
            <a:chExt cx="2474236" cy="63252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18084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实验结果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6681470" y="1050925"/>
            <a:ext cx="4144645" cy="2321751"/>
            <a:chOff x="1572" y="6012"/>
            <a:chExt cx="6914" cy="4450"/>
          </a:xfrm>
        </p:grpSpPr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1682" y="6012"/>
              <a:ext cx="6805" cy="3829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5"/>
              </p:custDataLst>
            </p:nvPr>
          </p:nvSpPr>
          <p:spPr>
            <a:xfrm>
              <a:off x="1572" y="6132"/>
              <a:ext cx="6805" cy="4019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175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2038" y="7319"/>
              <a:ext cx="5752" cy="31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在Cora和Citeseer数据集上成功复现，结果与论文高度一致，验证了算法实现的可行性与正确性。</a:t>
              </a:r>
              <a:endParaRPr lang="en-US">
                <a:solidFill>
                  <a:schemeClr val="tx1"/>
                </a:solidFill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7"/>
              </p:custDataLst>
            </p:nvPr>
          </p:nvSpPr>
          <p:spPr>
            <a:xfrm>
              <a:off x="2038" y="6638"/>
              <a:ext cx="4289" cy="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20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UGC</a:t>
              </a:r>
              <a:r>
                <a:rPr kumimoji="0" lang="zh-CN" altLang="en-US" sz="2400" b="1" i="0" u="none" strike="noStrike" kern="1200" cap="none" spc="20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方法复现</a:t>
              </a:r>
              <a:endPara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rot="5400000">
              <a:off x="1572" y="6132"/>
              <a:ext cx="277" cy="277"/>
            </a:xfrm>
            <a:prstGeom prst="rtTriangl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0690" y="3476625"/>
            <a:ext cx="5302250" cy="3057821"/>
            <a:chOff x="10246" y="6171"/>
            <a:chExt cx="6914" cy="4367"/>
          </a:xfrm>
        </p:grpSpPr>
        <p:sp>
          <p:nvSpPr>
            <p:cNvPr id="4" name="矩形 3"/>
            <p:cNvSpPr/>
            <p:nvPr>
              <p:custDataLst>
                <p:tags r:id="rId9"/>
              </p:custDataLst>
            </p:nvPr>
          </p:nvSpPr>
          <p:spPr>
            <a:xfrm>
              <a:off x="10355" y="6171"/>
              <a:ext cx="6805" cy="3829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10"/>
              </p:custDataLst>
            </p:nvPr>
          </p:nvSpPr>
          <p:spPr>
            <a:xfrm>
              <a:off x="10246" y="6291"/>
              <a:ext cx="6805" cy="4019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175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10445" y="7643"/>
              <a:ext cx="6496" cy="28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随着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Alpha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增大，</a:t>
              </a:r>
              <a:r>
                <a:rPr lang="zh-CN" altLang="en-US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sym typeface="+mn-ea"/>
                </a:rPr>
                <a:t>准确率有所提升，但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压缩率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逐渐降低。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最优区间在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0.5-0.6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，此时在保持较高准确率的同时获得了较好的压缩效果。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10632" y="6408"/>
              <a:ext cx="5728" cy="1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20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Facebook</a:t>
              </a:r>
              <a:r>
                <a:rPr kumimoji="0" lang="zh-CN" altLang="en-US" sz="2400" b="1" i="0" u="none" strike="noStrike" kern="1200" cap="none" spc="20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数据集</a:t>
              </a:r>
              <a:endPara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20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Alpha</a:t>
              </a:r>
              <a:r>
                <a:rPr kumimoji="0" lang="zh-CN" altLang="en-US" sz="2400" b="1" i="0" u="none" strike="noStrike" kern="1200" cap="none" spc="200" normalizeH="0" baseline="0" noProof="0" dirty="0">
                  <a:ln>
                    <a:noFill/>
                  </a:ln>
                  <a:effectLst/>
                  <a:uLnTx/>
                  <a:uFillTx/>
                  <a:latin typeface="思源黑体 CN Regular"/>
                  <a:ea typeface="微软雅黑" panose="020B0503020204020204" pitchFamily="34" charset="-122"/>
                  <a:cs typeface="+mn-cs"/>
                </a:rPr>
                <a:t>梯度测试分析</a:t>
              </a:r>
              <a:endPara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直角三角形 16"/>
            <p:cNvSpPr/>
            <p:nvPr>
              <p:custDataLst>
                <p:tags r:id="rId13"/>
              </p:custDataLst>
            </p:nvPr>
          </p:nvSpPr>
          <p:spPr>
            <a:xfrm rot="5400000">
              <a:off x="10246" y="6291"/>
              <a:ext cx="277" cy="277"/>
            </a:xfrm>
            <a:prstGeom prst="rtTriangl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 "/>
                <a:ea typeface="微软雅黑" panose="020B0503020204020204" pitchFamily="34" charset="-122"/>
                <a:cs typeface="+mn-cs"/>
              </a:endParaRPr>
            </a:p>
          </p:txBody>
        </p:sp>
      </p:grpSp>
      <p:graphicFrame>
        <p:nvGraphicFramePr>
          <p:cNvPr id="12" name="Table 6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593090" y="1084580"/>
          <a:ext cx="5620385" cy="200533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85215"/>
                <a:gridCol w="949325"/>
                <a:gridCol w="948690"/>
                <a:gridCol w="1221740"/>
                <a:gridCol w="1415415"/>
              </a:tblGrid>
              <a:tr h="5562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Dataset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alpha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ratio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压缩比例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平均准确率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8323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Cora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0.19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50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48.63%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0.8306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Citeseer</a:t>
                      </a:r>
                      <a:endParaRPr lang="en-US" alt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600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0.26</a:t>
                      </a:r>
                      <a:endParaRPr lang="en-US" alt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50</a:t>
                      </a:r>
                      <a:endParaRPr lang="en-US" alt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zh-CN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60.99%</a:t>
                      </a:r>
                      <a:endParaRPr lang="en-US" altLang="zh-CN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zh-CN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0.7222</a:t>
                      </a:r>
                      <a:endParaRPr lang="en-US" altLang="zh-CN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8323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30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40.06%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0.7492</a:t>
                      </a:r>
                      <a:endParaRPr lang="en-US" sz="1600" b="0" i="0" u="none" strike="noStrike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9" name="图片 18" descr="output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3475" y="3487420"/>
            <a:ext cx="5255895" cy="3192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25616/Desktop/微信图片_20250724002948.jpg微信图片_20250724002948"/>
          <p:cNvPicPr>
            <a:picLocks noChangeAspect="1"/>
          </p:cNvPicPr>
          <p:nvPr/>
        </p:nvPicPr>
        <p:blipFill>
          <a:blip r:embed="rId1">
            <a:alphaModFix amt="70000"/>
          </a:blip>
          <a:srcRect t="19484" b="13069"/>
          <a:stretch>
            <a:fillRect/>
          </a:stretch>
        </p:blipFill>
        <p:spPr>
          <a:xfrm>
            <a:off x="0" y="0"/>
            <a:ext cx="12192000" cy="39604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78020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后续计划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4900" y="241300"/>
            <a:ext cx="3060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后续计划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7692" t="36153" r="13461" b="36923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4800" y="6375400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048000" y="1295400"/>
            <a:ext cx="8636000" cy="137160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 rot="-5400000">
            <a:off x="2832100" y="1612900"/>
            <a:ext cx="850900" cy="762000"/>
          </a:xfrm>
          <a:prstGeom prst="flowChartOffpageConnector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3708400" y="1600200"/>
            <a:ext cx="1333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 spc="300">
                <a:solidFill>
                  <a:srgbClr val="6B02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阶段一（1周）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5059680" y="1569085"/>
            <a:ext cx="6489700" cy="8502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解决内存瓶颈，采用特征降维、分块批处理等策略，跑通Twitter和TWeibo等更大规模数据集的实验。</a:t>
            </a:r>
            <a:endParaRPr lang="zh-CN" altLang="en-US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2946400" y="1790700"/>
            <a:ext cx="66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3048000" y="3009900"/>
            <a:ext cx="8636000" cy="137160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 rot="-5400000">
            <a:off x="2832100" y="3314700"/>
            <a:ext cx="850900" cy="762000"/>
          </a:xfrm>
          <a:prstGeom prst="flowChartOffpageConnector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3708400" y="3302000"/>
            <a:ext cx="1333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 spc="300">
                <a:solidFill>
                  <a:srgbClr val="6B02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阶段二（2周）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5041900" y="3238500"/>
            <a:ext cx="64897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系统化对比多种多标签处理策略，优化UGC效果，并进行参数敏感性分析。</a:t>
            </a:r>
            <a:endParaRPr lang="en-US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2946400" y="3505200"/>
            <a:ext cx="66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3048000" y="4711700"/>
            <a:ext cx="8636000" cy="137160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 rot="-5400000">
            <a:off x="2832100" y="5016500"/>
            <a:ext cx="850900" cy="762000"/>
          </a:xfrm>
          <a:prstGeom prst="flowChartOffpageConnector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3708400" y="5003800"/>
            <a:ext cx="1333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 spc="300">
                <a:solidFill>
                  <a:srgbClr val="6B026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阶段三（2周）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5041900" y="4927600"/>
            <a:ext cx="64897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整理所有实验结果，</a:t>
            </a:r>
            <a:r>
              <a:rPr lang="zh-CN" altLang="en-US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绘制图表，</a:t>
            </a:r>
            <a:r>
              <a:rPr lang="en-US" b="0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完成论文主体撰写与排版，并准备答辩材料。</a:t>
            </a:r>
            <a:endParaRPr lang="en-US"/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2946400" y="5194300"/>
            <a:ext cx="66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-88900" y="1422400"/>
            <a:ext cx="2616200" cy="444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5400000" algn="ctr" rotWithShape="0">
              <a:srgbClr val="767171">
                <a:alpha val="10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25616/Desktop/微信图片_20250723234624.jpg微信图片_20250723234624"/>
          <p:cNvPicPr>
            <a:picLocks noChangeAspect="1"/>
          </p:cNvPicPr>
          <p:nvPr/>
        </p:nvPicPr>
        <p:blipFill>
          <a:blip r:embed="rId1">
            <a:alphaModFix amt="70000"/>
            <a:lum bright="-6000"/>
          </a:blip>
          <a:srcRect t="21482" b="21482"/>
          <a:stretch>
            <a:fillRect/>
          </a:stretch>
        </p:blipFill>
        <p:spPr>
          <a:xfrm>
            <a:off x="0" y="-1"/>
            <a:ext cx="12191999" cy="3911142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546100" y="4316095"/>
            <a:ext cx="11399520" cy="1791345"/>
            <a:chOff x="636250" y="4201833"/>
            <a:chExt cx="11399243" cy="2055693"/>
          </a:xfrm>
        </p:grpSpPr>
        <p:sp>
          <p:nvSpPr>
            <p:cNvPr id="6" name="文本占位符 3"/>
            <p:cNvSpPr txBox="1"/>
            <p:nvPr/>
          </p:nvSpPr>
          <p:spPr>
            <a:xfrm>
              <a:off x="636250" y="4201833"/>
              <a:ext cx="11399243" cy="961164"/>
            </a:xfrm>
            <a:prstGeom prst="rect">
              <a:avLst/>
            </a:prstGeom>
            <a:noFill/>
          </p:spPr>
          <p:txBody>
            <a:bodyPr vert="horz" wrap="square" lIns="91413" tIns="45706" rIns="91413" bIns="45706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6000" b="1" kern="1200" dirty="0" smtClean="0">
                  <a:solidFill>
                    <a:srgbClr val="0C98F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感谢</a:t>
              </a: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观看，敬请指正！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03886" y="5892235"/>
              <a:ext cx="2145410" cy="365291"/>
              <a:chOff x="928986" y="5797246"/>
              <a:chExt cx="2145410" cy="365291"/>
            </a:xfrm>
          </p:grpSpPr>
          <p:sp>
            <p:nvSpPr>
              <p:cNvPr id="14" name="文本框 22"/>
              <p:cNvSpPr txBox="1"/>
              <p:nvPr/>
            </p:nvSpPr>
            <p:spPr>
              <a:xfrm>
                <a:off x="1209824" y="5810572"/>
                <a:ext cx="1864572" cy="35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汇报人：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石家伊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speaker-giving-a-lecture-on-a-stand_33708"/>
              <p:cNvSpPr/>
              <p:nvPr/>
            </p:nvSpPr>
            <p:spPr bwMode="auto">
              <a:xfrm>
                <a:off x="928986" y="5797246"/>
                <a:ext cx="280838" cy="280413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6" name="组合 15"/>
            <p:cNvGrpSpPr/>
            <p:nvPr/>
          </p:nvGrpSpPr>
          <p:grpSpPr>
            <a:xfrm>
              <a:off x="3036745" y="5897746"/>
              <a:ext cx="2606690" cy="354113"/>
              <a:chOff x="3126898" y="5810572"/>
              <a:chExt cx="2606690" cy="354113"/>
            </a:xfrm>
          </p:grpSpPr>
          <p:sp>
            <p:nvSpPr>
              <p:cNvPr id="17" name="文本框 27"/>
              <p:cNvSpPr txBox="1"/>
              <p:nvPr/>
            </p:nvSpPr>
            <p:spPr>
              <a:xfrm>
                <a:off x="3399986" y="5812720"/>
                <a:ext cx="2333602" cy="35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日期：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2026.3.26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wall-clock_68132"/>
              <p:cNvSpPr/>
              <p:nvPr/>
            </p:nvSpPr>
            <p:spPr bwMode="auto">
              <a:xfrm>
                <a:off x="3126898" y="5810572"/>
                <a:ext cx="280838" cy="280413"/>
              </a:xfrm>
              <a:custGeom>
                <a:avLst/>
                <a:gdLst>
                  <a:gd name="connsiteX0" fmla="*/ 169739 w 605522"/>
                  <a:gd name="connsiteY0" fmla="*/ 214306 h 604605"/>
                  <a:gd name="connsiteX1" fmla="*/ 184976 w 605522"/>
                  <a:gd name="connsiteY1" fmla="*/ 216005 h 604605"/>
                  <a:gd name="connsiteX2" fmla="*/ 287155 w 605522"/>
                  <a:gd name="connsiteY2" fmla="*/ 272658 h 604605"/>
                  <a:gd name="connsiteX3" fmla="*/ 302691 w 605522"/>
                  <a:gd name="connsiteY3" fmla="*/ 268841 h 604605"/>
                  <a:gd name="connsiteX4" fmla="*/ 318346 w 605522"/>
                  <a:gd name="connsiteY4" fmla="*/ 272658 h 604605"/>
                  <a:gd name="connsiteX5" fmla="*/ 420524 w 605522"/>
                  <a:gd name="connsiteY5" fmla="*/ 216005 h 604605"/>
                  <a:gd name="connsiteX6" fmla="*/ 447652 w 605522"/>
                  <a:gd name="connsiteY6" fmla="*/ 223877 h 604605"/>
                  <a:gd name="connsiteX7" fmla="*/ 439884 w 605522"/>
                  <a:gd name="connsiteY7" fmla="*/ 250951 h 604605"/>
                  <a:gd name="connsiteX8" fmla="*/ 335674 w 605522"/>
                  <a:gd name="connsiteY8" fmla="*/ 308677 h 604605"/>
                  <a:gd name="connsiteX9" fmla="*/ 302691 w 605522"/>
                  <a:gd name="connsiteY9" fmla="*/ 335751 h 604605"/>
                  <a:gd name="connsiteX10" fmla="*/ 269826 w 605522"/>
                  <a:gd name="connsiteY10" fmla="*/ 308677 h 604605"/>
                  <a:gd name="connsiteX11" fmla="*/ 165497 w 605522"/>
                  <a:gd name="connsiteY11" fmla="*/ 250951 h 604605"/>
                  <a:gd name="connsiteX12" fmla="*/ 157729 w 605522"/>
                  <a:gd name="connsiteY12" fmla="*/ 223877 h 604605"/>
                  <a:gd name="connsiteX13" fmla="*/ 169739 w 605522"/>
                  <a:gd name="connsiteY13" fmla="*/ 214306 h 604605"/>
                  <a:gd name="connsiteX14" fmla="*/ 286807 w 605522"/>
                  <a:gd name="connsiteY14" fmla="*/ 64195 h 604605"/>
                  <a:gd name="connsiteX15" fmla="*/ 190010 w 605522"/>
                  <a:gd name="connsiteY15" fmla="*/ 91878 h 604605"/>
                  <a:gd name="connsiteX16" fmla="*/ 203036 w 605522"/>
                  <a:gd name="connsiteY16" fmla="*/ 114311 h 604605"/>
                  <a:gd name="connsiteX17" fmla="*/ 203872 w 605522"/>
                  <a:gd name="connsiteY17" fmla="*/ 120754 h 604605"/>
                  <a:gd name="connsiteX18" fmla="*/ 200048 w 605522"/>
                  <a:gd name="connsiteY18" fmla="*/ 125885 h 604605"/>
                  <a:gd name="connsiteX19" fmla="*/ 191564 w 605522"/>
                  <a:gd name="connsiteY19" fmla="*/ 125885 h 604605"/>
                  <a:gd name="connsiteX20" fmla="*/ 188456 w 605522"/>
                  <a:gd name="connsiteY20" fmla="*/ 122782 h 604605"/>
                  <a:gd name="connsiteX21" fmla="*/ 175431 w 605522"/>
                  <a:gd name="connsiteY21" fmla="*/ 100469 h 604605"/>
                  <a:gd name="connsiteX22" fmla="*/ 104207 w 605522"/>
                  <a:gd name="connsiteY22" fmla="*/ 169557 h 604605"/>
                  <a:gd name="connsiteX23" fmla="*/ 131692 w 605522"/>
                  <a:gd name="connsiteY23" fmla="*/ 185307 h 604605"/>
                  <a:gd name="connsiteX24" fmla="*/ 137428 w 605522"/>
                  <a:gd name="connsiteY24" fmla="*/ 207024 h 604605"/>
                  <a:gd name="connsiteX25" fmla="*/ 123686 w 605522"/>
                  <a:gd name="connsiteY25" fmla="*/ 215018 h 604605"/>
                  <a:gd name="connsiteX26" fmla="*/ 115679 w 605522"/>
                  <a:gd name="connsiteY26" fmla="*/ 212871 h 604605"/>
                  <a:gd name="connsiteX27" fmla="*/ 88313 w 605522"/>
                  <a:gd name="connsiteY27" fmla="*/ 197001 h 604605"/>
                  <a:gd name="connsiteX28" fmla="*/ 63815 w 605522"/>
                  <a:gd name="connsiteY28" fmla="*/ 294606 h 604605"/>
                  <a:gd name="connsiteX29" fmla="*/ 89866 w 605522"/>
                  <a:gd name="connsiteY29" fmla="*/ 294487 h 604605"/>
                  <a:gd name="connsiteX30" fmla="*/ 98351 w 605522"/>
                  <a:gd name="connsiteY30" fmla="*/ 302959 h 604605"/>
                  <a:gd name="connsiteX31" fmla="*/ 95841 w 605522"/>
                  <a:gd name="connsiteY31" fmla="*/ 308925 h 604605"/>
                  <a:gd name="connsiteX32" fmla="*/ 89986 w 605522"/>
                  <a:gd name="connsiteY32" fmla="*/ 311311 h 604605"/>
                  <a:gd name="connsiteX33" fmla="*/ 63934 w 605522"/>
                  <a:gd name="connsiteY33" fmla="*/ 311431 h 604605"/>
                  <a:gd name="connsiteX34" fmla="*/ 88313 w 605522"/>
                  <a:gd name="connsiteY34" fmla="*/ 407604 h 604605"/>
                  <a:gd name="connsiteX35" fmla="*/ 115679 w 605522"/>
                  <a:gd name="connsiteY35" fmla="*/ 391734 h 604605"/>
                  <a:gd name="connsiteX36" fmla="*/ 137428 w 605522"/>
                  <a:gd name="connsiteY36" fmla="*/ 397581 h 604605"/>
                  <a:gd name="connsiteX37" fmla="*/ 131692 w 605522"/>
                  <a:gd name="connsiteY37" fmla="*/ 419298 h 604605"/>
                  <a:gd name="connsiteX38" fmla="*/ 104207 w 605522"/>
                  <a:gd name="connsiteY38" fmla="*/ 435048 h 604605"/>
                  <a:gd name="connsiteX39" fmla="*/ 176626 w 605522"/>
                  <a:gd name="connsiteY39" fmla="*/ 504971 h 604605"/>
                  <a:gd name="connsiteX40" fmla="*/ 189532 w 605522"/>
                  <a:gd name="connsiteY40" fmla="*/ 482419 h 604605"/>
                  <a:gd name="connsiteX41" fmla="*/ 196941 w 605522"/>
                  <a:gd name="connsiteY41" fmla="*/ 478243 h 604605"/>
                  <a:gd name="connsiteX42" fmla="*/ 201124 w 605522"/>
                  <a:gd name="connsiteY42" fmla="*/ 479317 h 604605"/>
                  <a:gd name="connsiteX43" fmla="*/ 205067 w 605522"/>
                  <a:gd name="connsiteY43" fmla="*/ 484448 h 604605"/>
                  <a:gd name="connsiteX44" fmla="*/ 204231 w 605522"/>
                  <a:gd name="connsiteY44" fmla="*/ 490772 h 604605"/>
                  <a:gd name="connsiteX45" fmla="*/ 191325 w 605522"/>
                  <a:gd name="connsiteY45" fmla="*/ 513324 h 604605"/>
                  <a:gd name="connsiteX46" fmla="*/ 286807 w 605522"/>
                  <a:gd name="connsiteY46" fmla="*/ 540410 h 604605"/>
                  <a:gd name="connsiteX47" fmla="*/ 286807 w 605522"/>
                  <a:gd name="connsiteY47" fmla="*/ 508789 h 604605"/>
                  <a:gd name="connsiteX48" fmla="*/ 302701 w 605522"/>
                  <a:gd name="connsiteY48" fmla="*/ 492800 h 604605"/>
                  <a:gd name="connsiteX49" fmla="*/ 318715 w 605522"/>
                  <a:gd name="connsiteY49" fmla="*/ 508789 h 604605"/>
                  <a:gd name="connsiteX50" fmla="*/ 318715 w 605522"/>
                  <a:gd name="connsiteY50" fmla="*/ 540410 h 604605"/>
                  <a:gd name="connsiteX51" fmla="*/ 415512 w 605522"/>
                  <a:gd name="connsiteY51" fmla="*/ 512608 h 604605"/>
                  <a:gd name="connsiteX52" fmla="*/ 402367 w 605522"/>
                  <a:gd name="connsiteY52" fmla="*/ 490175 h 604605"/>
                  <a:gd name="connsiteX53" fmla="*/ 401530 w 605522"/>
                  <a:gd name="connsiteY53" fmla="*/ 483851 h 604605"/>
                  <a:gd name="connsiteX54" fmla="*/ 405474 w 605522"/>
                  <a:gd name="connsiteY54" fmla="*/ 478720 h 604605"/>
                  <a:gd name="connsiteX55" fmla="*/ 409657 w 605522"/>
                  <a:gd name="connsiteY55" fmla="*/ 477527 h 604605"/>
                  <a:gd name="connsiteX56" fmla="*/ 416946 w 605522"/>
                  <a:gd name="connsiteY56" fmla="*/ 481703 h 604605"/>
                  <a:gd name="connsiteX57" fmla="*/ 430092 w 605522"/>
                  <a:gd name="connsiteY57" fmla="*/ 504136 h 604605"/>
                  <a:gd name="connsiteX58" fmla="*/ 501196 w 605522"/>
                  <a:gd name="connsiteY58" fmla="*/ 435048 h 604605"/>
                  <a:gd name="connsiteX59" fmla="*/ 473830 w 605522"/>
                  <a:gd name="connsiteY59" fmla="*/ 419298 h 604605"/>
                  <a:gd name="connsiteX60" fmla="*/ 467974 w 605522"/>
                  <a:gd name="connsiteY60" fmla="*/ 397581 h 604605"/>
                  <a:gd name="connsiteX61" fmla="*/ 489724 w 605522"/>
                  <a:gd name="connsiteY61" fmla="*/ 391734 h 604605"/>
                  <a:gd name="connsiteX62" fmla="*/ 517209 w 605522"/>
                  <a:gd name="connsiteY62" fmla="*/ 407485 h 604605"/>
                  <a:gd name="connsiteX63" fmla="*/ 541588 w 605522"/>
                  <a:gd name="connsiteY63" fmla="*/ 309999 h 604605"/>
                  <a:gd name="connsiteX64" fmla="*/ 515536 w 605522"/>
                  <a:gd name="connsiteY64" fmla="*/ 309999 h 604605"/>
                  <a:gd name="connsiteX65" fmla="*/ 511354 w 605522"/>
                  <a:gd name="connsiteY65" fmla="*/ 308925 h 604605"/>
                  <a:gd name="connsiteX66" fmla="*/ 507171 w 605522"/>
                  <a:gd name="connsiteY66" fmla="*/ 301646 h 604605"/>
                  <a:gd name="connsiteX67" fmla="*/ 509561 w 605522"/>
                  <a:gd name="connsiteY67" fmla="*/ 295680 h 604605"/>
                  <a:gd name="connsiteX68" fmla="*/ 515536 w 605522"/>
                  <a:gd name="connsiteY68" fmla="*/ 293174 h 604605"/>
                  <a:gd name="connsiteX69" fmla="*/ 541588 w 605522"/>
                  <a:gd name="connsiteY69" fmla="*/ 293174 h 604605"/>
                  <a:gd name="connsiteX70" fmla="*/ 517209 w 605522"/>
                  <a:gd name="connsiteY70" fmla="*/ 197001 h 604605"/>
                  <a:gd name="connsiteX71" fmla="*/ 489724 w 605522"/>
                  <a:gd name="connsiteY71" fmla="*/ 212871 h 604605"/>
                  <a:gd name="connsiteX72" fmla="*/ 481836 w 605522"/>
                  <a:gd name="connsiteY72" fmla="*/ 215018 h 604605"/>
                  <a:gd name="connsiteX73" fmla="*/ 467974 w 605522"/>
                  <a:gd name="connsiteY73" fmla="*/ 207024 h 604605"/>
                  <a:gd name="connsiteX74" fmla="*/ 473830 w 605522"/>
                  <a:gd name="connsiteY74" fmla="*/ 185307 h 604605"/>
                  <a:gd name="connsiteX75" fmla="*/ 501196 w 605522"/>
                  <a:gd name="connsiteY75" fmla="*/ 169437 h 604605"/>
                  <a:gd name="connsiteX76" fmla="*/ 428777 w 605522"/>
                  <a:gd name="connsiteY76" fmla="*/ 99634 h 604605"/>
                  <a:gd name="connsiteX77" fmla="*/ 415871 w 605522"/>
                  <a:gd name="connsiteY77" fmla="*/ 122066 h 604605"/>
                  <a:gd name="connsiteX78" fmla="*/ 408581 w 605522"/>
                  <a:gd name="connsiteY78" fmla="*/ 126362 h 604605"/>
                  <a:gd name="connsiteX79" fmla="*/ 404398 w 605522"/>
                  <a:gd name="connsiteY79" fmla="*/ 125288 h 604605"/>
                  <a:gd name="connsiteX80" fmla="*/ 401291 w 605522"/>
                  <a:gd name="connsiteY80" fmla="*/ 113714 h 604605"/>
                  <a:gd name="connsiteX81" fmla="*/ 414198 w 605522"/>
                  <a:gd name="connsiteY81" fmla="*/ 91281 h 604605"/>
                  <a:gd name="connsiteX82" fmla="*/ 318715 w 605522"/>
                  <a:gd name="connsiteY82" fmla="*/ 64195 h 604605"/>
                  <a:gd name="connsiteX83" fmla="*/ 318715 w 605522"/>
                  <a:gd name="connsiteY83" fmla="*/ 95816 h 604605"/>
                  <a:gd name="connsiteX84" fmla="*/ 302701 w 605522"/>
                  <a:gd name="connsiteY84" fmla="*/ 111685 h 604605"/>
                  <a:gd name="connsiteX85" fmla="*/ 286807 w 605522"/>
                  <a:gd name="connsiteY85" fmla="*/ 95816 h 604605"/>
                  <a:gd name="connsiteX86" fmla="*/ 302701 w 605522"/>
                  <a:gd name="connsiteY86" fmla="*/ 0 h 604605"/>
                  <a:gd name="connsiteX87" fmla="*/ 605522 w 605522"/>
                  <a:gd name="connsiteY87" fmla="*/ 302243 h 604605"/>
                  <a:gd name="connsiteX88" fmla="*/ 302701 w 605522"/>
                  <a:gd name="connsiteY88" fmla="*/ 604605 h 604605"/>
                  <a:gd name="connsiteX89" fmla="*/ 0 w 605522"/>
                  <a:gd name="connsiteY89" fmla="*/ 302243 h 604605"/>
                  <a:gd name="connsiteX90" fmla="*/ 302701 w 605522"/>
                  <a:gd name="connsiteY90" fmla="*/ 0 h 60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605522" h="604605">
                    <a:moveTo>
                      <a:pt x="169739" y="214306"/>
                    </a:moveTo>
                    <a:cubicBezTo>
                      <a:pt x="174669" y="212874"/>
                      <a:pt x="180136" y="213322"/>
                      <a:pt x="184976" y="216005"/>
                    </a:cubicBezTo>
                    <a:lnTo>
                      <a:pt x="287155" y="272658"/>
                    </a:lnTo>
                    <a:cubicBezTo>
                      <a:pt x="291816" y="270153"/>
                      <a:pt x="297074" y="268841"/>
                      <a:pt x="302691" y="268841"/>
                    </a:cubicBezTo>
                    <a:cubicBezTo>
                      <a:pt x="308307" y="268841"/>
                      <a:pt x="313685" y="270153"/>
                      <a:pt x="318346" y="272658"/>
                    </a:cubicBezTo>
                    <a:lnTo>
                      <a:pt x="420524" y="216005"/>
                    </a:lnTo>
                    <a:cubicBezTo>
                      <a:pt x="430204" y="210638"/>
                      <a:pt x="442394" y="214216"/>
                      <a:pt x="447652" y="223877"/>
                    </a:cubicBezTo>
                    <a:cubicBezTo>
                      <a:pt x="453030" y="233418"/>
                      <a:pt x="449564" y="245584"/>
                      <a:pt x="439884" y="250951"/>
                    </a:cubicBezTo>
                    <a:lnTo>
                      <a:pt x="335674" y="308677"/>
                    </a:lnTo>
                    <a:cubicBezTo>
                      <a:pt x="332567" y="324063"/>
                      <a:pt x="319063" y="335751"/>
                      <a:pt x="302691" y="335751"/>
                    </a:cubicBezTo>
                    <a:cubicBezTo>
                      <a:pt x="286438" y="335751"/>
                      <a:pt x="272814" y="324182"/>
                      <a:pt x="269826" y="308677"/>
                    </a:cubicBezTo>
                    <a:lnTo>
                      <a:pt x="165497" y="250951"/>
                    </a:lnTo>
                    <a:cubicBezTo>
                      <a:pt x="155817" y="245584"/>
                      <a:pt x="152351" y="233418"/>
                      <a:pt x="157729" y="223877"/>
                    </a:cubicBezTo>
                    <a:cubicBezTo>
                      <a:pt x="160418" y="219047"/>
                      <a:pt x="164810" y="215737"/>
                      <a:pt x="169739" y="214306"/>
                    </a:cubicBezTo>
                    <a:close/>
                    <a:moveTo>
                      <a:pt x="286807" y="64195"/>
                    </a:moveTo>
                    <a:cubicBezTo>
                      <a:pt x="252032" y="66462"/>
                      <a:pt x="219169" y="76247"/>
                      <a:pt x="190010" y="91878"/>
                    </a:cubicBezTo>
                    <a:lnTo>
                      <a:pt x="203036" y="114311"/>
                    </a:lnTo>
                    <a:cubicBezTo>
                      <a:pt x="204231" y="116339"/>
                      <a:pt x="204470" y="118606"/>
                      <a:pt x="203872" y="120754"/>
                    </a:cubicBezTo>
                    <a:cubicBezTo>
                      <a:pt x="203394" y="122902"/>
                      <a:pt x="201960" y="124692"/>
                      <a:pt x="200048" y="125885"/>
                    </a:cubicBezTo>
                    <a:cubicBezTo>
                      <a:pt x="197419" y="127436"/>
                      <a:pt x="194193" y="127317"/>
                      <a:pt x="191564" y="125885"/>
                    </a:cubicBezTo>
                    <a:cubicBezTo>
                      <a:pt x="190249" y="125169"/>
                      <a:pt x="189173" y="124095"/>
                      <a:pt x="188456" y="122782"/>
                    </a:cubicBezTo>
                    <a:lnTo>
                      <a:pt x="175431" y="100469"/>
                    </a:lnTo>
                    <a:cubicBezTo>
                      <a:pt x="147108" y="118248"/>
                      <a:pt x="122849" y="141874"/>
                      <a:pt x="104207" y="169557"/>
                    </a:cubicBezTo>
                    <a:lnTo>
                      <a:pt x="131692" y="185307"/>
                    </a:lnTo>
                    <a:cubicBezTo>
                      <a:pt x="139221" y="189722"/>
                      <a:pt x="141850" y="199387"/>
                      <a:pt x="137428" y="207024"/>
                    </a:cubicBezTo>
                    <a:cubicBezTo>
                      <a:pt x="134560" y="212155"/>
                      <a:pt x="129183" y="215018"/>
                      <a:pt x="123686" y="215018"/>
                    </a:cubicBezTo>
                    <a:cubicBezTo>
                      <a:pt x="120937" y="215018"/>
                      <a:pt x="118188" y="214302"/>
                      <a:pt x="115679" y="212871"/>
                    </a:cubicBezTo>
                    <a:lnTo>
                      <a:pt x="88313" y="197001"/>
                    </a:lnTo>
                    <a:cubicBezTo>
                      <a:pt x="73614" y="226593"/>
                      <a:pt x="65010" y="259645"/>
                      <a:pt x="63815" y="294606"/>
                    </a:cubicBezTo>
                    <a:lnTo>
                      <a:pt x="89866" y="294487"/>
                    </a:lnTo>
                    <a:cubicBezTo>
                      <a:pt x="94527" y="294487"/>
                      <a:pt x="98351" y="298305"/>
                      <a:pt x="98351" y="302959"/>
                    </a:cubicBezTo>
                    <a:cubicBezTo>
                      <a:pt x="98351" y="305107"/>
                      <a:pt x="97514" y="307254"/>
                      <a:pt x="95841" y="308925"/>
                    </a:cubicBezTo>
                    <a:cubicBezTo>
                      <a:pt x="94288" y="310476"/>
                      <a:pt x="92256" y="311311"/>
                      <a:pt x="89986" y="311311"/>
                    </a:cubicBezTo>
                    <a:lnTo>
                      <a:pt x="63934" y="311431"/>
                    </a:lnTo>
                    <a:cubicBezTo>
                      <a:pt x="65249" y="345795"/>
                      <a:pt x="73853" y="378370"/>
                      <a:pt x="88313" y="407604"/>
                    </a:cubicBezTo>
                    <a:lnTo>
                      <a:pt x="115679" y="391734"/>
                    </a:lnTo>
                    <a:cubicBezTo>
                      <a:pt x="123327" y="387320"/>
                      <a:pt x="133126" y="389945"/>
                      <a:pt x="137428" y="397581"/>
                    </a:cubicBezTo>
                    <a:cubicBezTo>
                      <a:pt x="141850" y="405218"/>
                      <a:pt x="139221" y="414883"/>
                      <a:pt x="131692" y="419298"/>
                    </a:cubicBezTo>
                    <a:lnTo>
                      <a:pt x="104207" y="435048"/>
                    </a:lnTo>
                    <a:cubicBezTo>
                      <a:pt x="123208" y="463208"/>
                      <a:pt x="147825" y="487073"/>
                      <a:pt x="176626" y="504971"/>
                    </a:cubicBezTo>
                    <a:lnTo>
                      <a:pt x="189532" y="482419"/>
                    </a:lnTo>
                    <a:cubicBezTo>
                      <a:pt x="191086" y="479794"/>
                      <a:pt x="193834" y="478243"/>
                      <a:pt x="196941" y="478243"/>
                    </a:cubicBezTo>
                    <a:cubicBezTo>
                      <a:pt x="198375" y="478243"/>
                      <a:pt x="199809" y="478601"/>
                      <a:pt x="201124" y="479317"/>
                    </a:cubicBezTo>
                    <a:cubicBezTo>
                      <a:pt x="203036" y="480510"/>
                      <a:pt x="204470" y="482300"/>
                      <a:pt x="205067" y="484448"/>
                    </a:cubicBezTo>
                    <a:cubicBezTo>
                      <a:pt x="205665" y="486595"/>
                      <a:pt x="205306" y="488863"/>
                      <a:pt x="204231" y="490772"/>
                    </a:cubicBezTo>
                    <a:lnTo>
                      <a:pt x="191325" y="513324"/>
                    </a:lnTo>
                    <a:cubicBezTo>
                      <a:pt x="220125" y="528597"/>
                      <a:pt x="252510" y="538143"/>
                      <a:pt x="286807" y="540410"/>
                    </a:cubicBezTo>
                    <a:lnTo>
                      <a:pt x="286807" y="508789"/>
                    </a:lnTo>
                    <a:cubicBezTo>
                      <a:pt x="286807" y="499960"/>
                      <a:pt x="293978" y="492800"/>
                      <a:pt x="302701" y="492800"/>
                    </a:cubicBezTo>
                    <a:cubicBezTo>
                      <a:pt x="311545" y="492800"/>
                      <a:pt x="318715" y="499960"/>
                      <a:pt x="318715" y="508789"/>
                    </a:cubicBezTo>
                    <a:lnTo>
                      <a:pt x="318715" y="540410"/>
                    </a:lnTo>
                    <a:cubicBezTo>
                      <a:pt x="353490" y="538143"/>
                      <a:pt x="386354" y="528358"/>
                      <a:pt x="415512" y="512608"/>
                    </a:cubicBezTo>
                    <a:lnTo>
                      <a:pt x="402367" y="490175"/>
                    </a:lnTo>
                    <a:cubicBezTo>
                      <a:pt x="401291" y="488266"/>
                      <a:pt x="400933" y="485999"/>
                      <a:pt x="401530" y="483851"/>
                    </a:cubicBezTo>
                    <a:cubicBezTo>
                      <a:pt x="402128" y="481703"/>
                      <a:pt x="403562" y="479794"/>
                      <a:pt x="405474" y="478720"/>
                    </a:cubicBezTo>
                    <a:cubicBezTo>
                      <a:pt x="406789" y="478004"/>
                      <a:pt x="408223" y="477527"/>
                      <a:pt x="409657" y="477527"/>
                    </a:cubicBezTo>
                    <a:cubicBezTo>
                      <a:pt x="412644" y="477527"/>
                      <a:pt x="415512" y="479198"/>
                      <a:pt x="416946" y="481703"/>
                    </a:cubicBezTo>
                    <a:lnTo>
                      <a:pt x="430092" y="504136"/>
                    </a:lnTo>
                    <a:cubicBezTo>
                      <a:pt x="458294" y="486357"/>
                      <a:pt x="482553" y="462731"/>
                      <a:pt x="501196" y="435048"/>
                    </a:cubicBezTo>
                    <a:lnTo>
                      <a:pt x="473830" y="419298"/>
                    </a:lnTo>
                    <a:cubicBezTo>
                      <a:pt x="466182" y="414883"/>
                      <a:pt x="463672" y="405218"/>
                      <a:pt x="467974" y="397581"/>
                    </a:cubicBezTo>
                    <a:cubicBezTo>
                      <a:pt x="472396" y="389945"/>
                      <a:pt x="482195" y="387320"/>
                      <a:pt x="489724" y="391734"/>
                    </a:cubicBezTo>
                    <a:lnTo>
                      <a:pt x="517209" y="407485"/>
                    </a:lnTo>
                    <a:cubicBezTo>
                      <a:pt x="531789" y="377893"/>
                      <a:pt x="540512" y="344841"/>
                      <a:pt x="541588" y="309999"/>
                    </a:cubicBezTo>
                    <a:lnTo>
                      <a:pt x="515536" y="309999"/>
                    </a:lnTo>
                    <a:cubicBezTo>
                      <a:pt x="514102" y="309999"/>
                      <a:pt x="512668" y="309641"/>
                      <a:pt x="511354" y="308925"/>
                    </a:cubicBezTo>
                    <a:cubicBezTo>
                      <a:pt x="508725" y="307493"/>
                      <a:pt x="507171" y="304629"/>
                      <a:pt x="507171" y="301646"/>
                    </a:cubicBezTo>
                    <a:cubicBezTo>
                      <a:pt x="507171" y="299379"/>
                      <a:pt x="508008" y="297351"/>
                      <a:pt x="509561" y="295680"/>
                    </a:cubicBezTo>
                    <a:cubicBezTo>
                      <a:pt x="511115" y="294129"/>
                      <a:pt x="513266" y="293174"/>
                      <a:pt x="515536" y="293174"/>
                    </a:cubicBezTo>
                    <a:lnTo>
                      <a:pt x="541588" y="293174"/>
                    </a:lnTo>
                    <a:cubicBezTo>
                      <a:pt x="540273" y="258810"/>
                      <a:pt x="531669" y="226235"/>
                      <a:pt x="517209" y="197001"/>
                    </a:cubicBezTo>
                    <a:lnTo>
                      <a:pt x="489724" y="212871"/>
                    </a:lnTo>
                    <a:cubicBezTo>
                      <a:pt x="487214" y="214302"/>
                      <a:pt x="484585" y="215018"/>
                      <a:pt x="481836" y="215018"/>
                    </a:cubicBezTo>
                    <a:cubicBezTo>
                      <a:pt x="476339" y="215018"/>
                      <a:pt x="470962" y="212155"/>
                      <a:pt x="467974" y="207024"/>
                    </a:cubicBezTo>
                    <a:cubicBezTo>
                      <a:pt x="463553" y="199387"/>
                      <a:pt x="466182" y="189722"/>
                      <a:pt x="473830" y="185307"/>
                    </a:cubicBezTo>
                    <a:lnTo>
                      <a:pt x="501196" y="169437"/>
                    </a:lnTo>
                    <a:cubicBezTo>
                      <a:pt x="482314" y="141397"/>
                      <a:pt x="457577" y="117532"/>
                      <a:pt x="428777" y="99634"/>
                    </a:cubicBezTo>
                    <a:lnTo>
                      <a:pt x="415871" y="122066"/>
                    </a:lnTo>
                    <a:cubicBezTo>
                      <a:pt x="414437" y="124692"/>
                      <a:pt x="411569" y="126362"/>
                      <a:pt x="408581" y="126362"/>
                    </a:cubicBezTo>
                    <a:cubicBezTo>
                      <a:pt x="407147" y="126362"/>
                      <a:pt x="405713" y="126004"/>
                      <a:pt x="404398" y="125288"/>
                    </a:cubicBezTo>
                    <a:cubicBezTo>
                      <a:pt x="400335" y="122902"/>
                      <a:pt x="398901" y="117771"/>
                      <a:pt x="401291" y="113714"/>
                    </a:cubicBezTo>
                    <a:lnTo>
                      <a:pt x="414198" y="91281"/>
                    </a:lnTo>
                    <a:cubicBezTo>
                      <a:pt x="385278" y="76008"/>
                      <a:pt x="353012" y="66462"/>
                      <a:pt x="318715" y="64195"/>
                    </a:cubicBezTo>
                    <a:lnTo>
                      <a:pt x="318715" y="95816"/>
                    </a:lnTo>
                    <a:cubicBezTo>
                      <a:pt x="318715" y="104645"/>
                      <a:pt x="311545" y="111685"/>
                      <a:pt x="302701" y="111685"/>
                    </a:cubicBezTo>
                    <a:cubicBezTo>
                      <a:pt x="293978" y="111685"/>
                      <a:pt x="286807" y="104645"/>
                      <a:pt x="286807" y="95816"/>
                    </a:cubicBezTo>
                    <a:close/>
                    <a:moveTo>
                      <a:pt x="302701" y="0"/>
                    </a:moveTo>
                    <a:cubicBezTo>
                      <a:pt x="469647" y="0"/>
                      <a:pt x="605522" y="135550"/>
                      <a:pt x="605522" y="302243"/>
                    </a:cubicBezTo>
                    <a:cubicBezTo>
                      <a:pt x="605522" y="468936"/>
                      <a:pt x="469647" y="604605"/>
                      <a:pt x="302701" y="604605"/>
                    </a:cubicBezTo>
                    <a:cubicBezTo>
                      <a:pt x="135755" y="604605"/>
                      <a:pt x="0" y="468936"/>
                      <a:pt x="0" y="302243"/>
                    </a:cubicBezTo>
                    <a:cubicBezTo>
                      <a:pt x="0" y="135550"/>
                      <a:pt x="135755" y="0"/>
                      <a:pt x="302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</p:grpSp>
      <p:sp>
        <p:nvSpPr>
          <p:cNvPr id="20" name="矩形 19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3548" y="6381340"/>
            <a:ext cx="2112008" cy="303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2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3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4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5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6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7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8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9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10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11.xml><?xml version="1.0" encoding="utf-8"?>
<p:tagLst xmlns:p="http://schemas.openxmlformats.org/presentationml/2006/main">
  <p:tag name="KSO_WM_DIAGRAM_VIRTUALLY_FRAME" val="{&quot;height&quot;:477.16393700787404,&quot;left&quot;:53.453307086614174,&quot;top&quot;:54.18212598425197,&quot;width&quot;:885.224409448819}"/>
</p:tagLst>
</file>

<file path=ppt/tags/tag12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3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4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5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6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7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8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9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0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1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2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3.xml><?xml version="1.0" encoding="utf-8"?>
<p:tagLst xmlns:p="http://schemas.openxmlformats.org/presentationml/2006/main">
  <p:tag name="KSO_WM_DIAGRAM_VIRTUALLY_FRAME" val="{&quot;height&quot;:477.16393700787404,&quot;left&quot;:53.453307086614174,&quot;top&quot;:54.18212598425197,&quot;width&quot;:885.224409448819}"/>
</p:tagLst>
</file>

<file path=ppt/tags/tag24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25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26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27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28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29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0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1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2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3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4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5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6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7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8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39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40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41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42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43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44.xml><?xml version="1.0" encoding="utf-8"?>
<p:tagLst xmlns:p="http://schemas.openxmlformats.org/presentationml/2006/main">
  <p:tag name="KSO_WM_DIAGRAM_VIRTUALLY_FRAME" val="{&quot;height&quot;:362.5862204724409,&quot;left&quot;:35,&quot;top&quot;:111.16377952755906,&quot;width&quot;:891.3000787401576}"/>
</p:tagLst>
</file>

<file path=ppt/tags/tag45.xml><?xml version="1.0" encoding="utf-8"?>
<p:tagLst xmlns:p="http://schemas.openxmlformats.org/presentationml/2006/main">
  <p:tag name="KSO_WM_DIAGRAM_VIRTUALLY_FRAME" val="{&quot;height&quot;:477.16393700787404,&quot;left&quot;:53.453307086614174,&quot;top&quot;:54.18212598425197,&quot;width&quot;:885.224409448819}"/>
</p:tagLst>
</file>

<file path=ppt/tags/tag46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47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48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49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0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1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2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3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4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5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6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57.xml><?xml version="1.0" encoding="utf-8"?>
<p:tagLst xmlns:p="http://schemas.openxmlformats.org/presentationml/2006/main">
  <p:tag name="TABLE_ENDDRAG_ORIGIN_RECT" val="442*173"/>
  <p:tag name="TABLE_ENDDRAG_RECT" val="46*85*442*173"/>
</p:tagLst>
</file>

<file path=ppt/tags/tag58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59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0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1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2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3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4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5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6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7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8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69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70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71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72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1190</Words>
  <Application>WPS 演示</Application>
  <PresentationFormat>宽屏</PresentationFormat>
  <Paragraphs>206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Arial Black</vt:lpstr>
      <vt:lpstr>Wingdings 2</vt:lpstr>
      <vt:lpstr>幼圆</vt:lpstr>
      <vt:lpstr>Calibri</vt:lpstr>
      <vt:lpstr>等线</vt:lpstr>
      <vt:lpstr>Roboto Regular</vt:lpstr>
      <vt:lpstr>Roboto Regular </vt:lpstr>
      <vt:lpstr>思源黑体 CN Regular</vt:lpstr>
      <vt:lpstr>黑体</vt:lpstr>
      <vt:lpstr>Noto Sans SC</vt:lpstr>
      <vt:lpstr>Wingdings</vt:lpstr>
      <vt:lpstr>Segoe Print</vt:lpstr>
      <vt:lpstr>Arial Unicode MS</vt:lpstr>
      <vt:lpstr>等线 Light</vt:lpstr>
      <vt:lpstr>1_Office 主题​​</vt:lpstr>
      <vt:lpstr>第一PPT，www.1ppt.com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柠萌°</cp:lastModifiedBy>
  <cp:revision>74</cp:revision>
  <dcterms:created xsi:type="dcterms:W3CDTF">2020-12-04T11:45:00Z</dcterms:created>
  <dcterms:modified xsi:type="dcterms:W3CDTF">2026-03-30T06:48:27Z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1BF05343E7C447D1932992D44835DDE5_12</vt:lpwstr>
  </property>
  <property fmtid="{D5CDD505-2E9C-101B-9397-08002B2CF9AE}" pid="3" name="KSOProductBuildVer">
    <vt:lpwstr>2052-12.1.0.25225</vt:lpwstr>
  </property>
</Properties>
</file>