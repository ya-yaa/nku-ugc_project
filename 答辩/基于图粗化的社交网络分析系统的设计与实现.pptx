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74" r:id="rId5"/>
    <p:sldMasterId id="2147483676" r:id="rId6"/>
    <p:sldMasterId id="2147483678" r:id="rId7"/>
  </p:sldMasterIdLst>
  <p:notesMasterIdLst>
    <p:notesMasterId r:id="rId9"/>
  </p:notesMasterIdLst>
  <p:sldIdLst>
    <p:sldId id="256" r:id="rId8"/>
    <p:sldId id="267" r:id="rId10"/>
    <p:sldId id="268" r:id="rId11"/>
    <p:sldId id="269" r:id="rId12"/>
    <p:sldId id="270" r:id="rId13"/>
    <p:sldId id="271" r:id="rId14"/>
    <p:sldId id="259" r:id="rId15"/>
    <p:sldId id="273" r:id="rId16"/>
    <p:sldId id="261" r:id="rId17"/>
    <p:sldId id="275" r:id="rId18"/>
    <p:sldId id="272" r:id="rId19"/>
    <p:sldId id="262" r:id="rId20"/>
    <p:sldId id="263" r:id="rId21"/>
    <p:sldId id="274" r:id="rId22"/>
    <p:sldId id="265" r:id="rId23"/>
    <p:sldId id="266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881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5FF"/>
    <a:srgbClr val="6B02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0"/>
        <p:guide pos="288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是信息安全专业的石家伊。我的毕业论文题目是《基于图粗化的社交网络分析系统的设计与实现》。这项研究旨在解决大规模社交网络分析中计算成本高、效率低的问题。接下来，我将从研究背景、方法改进、系统实现、实验验证和总结展望五个方面，向各位老师汇报我的研究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目标，我主要完成了四项工作。首先，在方法层面，我对现有的UGC图粗化方法进行了两方面的改进：一是提出了一种相似度加权的特征聚合方法，以提升超节点的特征表达能力；二是设计了四种多标签处理策略，以适应社交网络数据的复杂性。其次，我补充了评价指标，引入了“平均标签纯度”等指标来更精细地评估粗化质量。第三，我设计并实现了一套完整的B/S架构系统，打通了从数据处理到结果分析的全流程。最后，通过大量的实验，全面验证了我所提出方法的有效性以及系统的稳定性和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B1AD9-50C8-4C2E-8A08-D0B1FB3488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我所采用的基础方法是通用图粗化，即UGC。它的流程非常清晰，主要分为四步。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第一步，构造增强节点表示。UGC巧妙地将节点自身的属性和它的邻居结构信息结合起来，形成一个更全面的特征向量。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第二步，利用局部敏感哈希，也就是LSH，快速地将相似的节点分到同一个桶里，这个过程非常高效。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第三步，生成超节点。同一个桶里的节点就构成了一个超节点，它的特征和标签通过简单的平均和投票方式产生。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最后一步，构建粗图。如果两个超节点内部的任何原始节点之间有连接，我们就在这两个超节点之间建立一条边。通过这四步，我们就能从一个大图得到一个规模小得多，但保留了关键信息的粗图。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UGC流程很高效，但它在生成超节点特征时采用的简单平均方法存在一个问题。它假设超节点内所有节点的贡献都一样，但这在真实数据中往往不成立。一个超节点里可能有核心节点和边缘节点，简单平均会稀释核心节点的关键信息，同时放大边缘节点的噪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个问题，我提出了一种相似度加权的聚合方法。简单来说，就是先找到超节点的“原型”特征，然后计算每个成员节点与这个原型的相似度，让相似度高的节点拥有更大的权重，最后用这些权重来聚合特征。这个改进最大的好处是，它完全不改变UGC已经生成的粗图结构，只是优化了超节点的特征表示，因此可以很方便地集成到现有流程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社交网络的另一个特点是多标签，一个用户可能有多个身份。这就带来一个问题：UGC方法需要判断两个节点是否“同类”，在多标签场景下，这个定义变得非常模糊。为此，我设计了四种策略来处理这个问题。V1最简单，只看第一个标签，但会丢失大量信息。V2只要有一个共同标签就算同类，这又太宽松了。V3要求位置也一样，这又太严格了。而我重点推荐的是V4策略，它通过计算标签集合的Jaccard相似度，并设定一个阈值来判断是否同类。实验证明，V4策略在利用多标签信息和保持分类任务的有效性之间，取得了最好的平衡，是处理多标签社交网络图粗化的最佳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我的方法，我进行了一系列实验。首先，在单标签数据集上，我对比了原始的平均聚合和我的加权聚合方法。结果显示，在多个数据集上，尤其是在高压缩率下，我的方法能够显著提升下游GNN模型的分类准确率。这证明了加权聚合能生成更具判别力的超节点特征。其次，在多标签数据集上，我对比了四种处理策略。实验结果非常清晰地表明，我提出的V4策略，也就是基于Jaccard相似度的策略，在所有测试数据上都取得了最好或接近最好的分类效果。这说明V4策略是处理多标签图粗化问题的最优选择。总的来说，实验充分验证了我所做改进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将上述算法落地，我设计并实现了一套完整的系统。系统采用经典的B/S架构，用户通过浏览器即可访问。整个系统分为四层。最上层是用户交互层，提供了数据上传、参数配置和结果展示的可视化界面。中间是业务处理层，基于Flask框架，负责接收用户请求并调度任务。再往下是算法计算层，这是系统的核心，用Python和PyTorch Geometric实现了所有的图粗化和GNN计算逻辑。最底层是数据存储层，我采用了数据库和文件系统相结合的方式，数据库存元数据，文件系统存大文件，兼顾了效率和易用性。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将展示系统的主要功能。首先是数据上传和参数配置页面，用户可以方便地选择或上传数据集，并配置所有关键参数。点击运行后，系统会进入状态监控页面，实时展示任务的执行进度。实验完成后，我们会进入结果分析页面，这里以卡片形式展示了所有关键的评估指标。为了更直观地理解粗化结果，系统提供了强大的可视化功能，我们可以看到粗图的结构，点击任何一个超节点，还能看到它在原图中对应的成员节点。最后，也是非常重要的一点，系统集成了GNN分类测试功能，用户可以直接在粗图上运行GCN等模型，一键评估粗化图对下游任务的影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最后，对我的工作进行总结。本次研究主要有四点贡献：在方法上，我优化了特征聚合方式并提出了最优的多标签处理策略；在评价上，我补充了新的质量指标；在实践上，我开发了一套完整的分析系统；在验证上，我通过充分的实验证明了方法的有效性。展望未来，还有三个方向值得深入：一是将系统扩展到更大规模的数据；二是适配更多种类的GNN模型；三是研究在线任务调度，提升系统的并发处理能力。我的汇报到此结束，感谢各位老师的聆听！</a:t>
            </a:r>
            <a:endParaRPr lang="en-US" sz="1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CC8-80CA-4952-873B-B90AFBB50FB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7B491-F125-4D81-8C98-61C6C51FA30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005F-A24C-42F9-9BF0-25098C4588A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5BC-A300-42AE-8558-568B763D02D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8002-C763-4DF7-95ED-8B866BE4A07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4F6C-55F4-4777-963D-798C8AE4F1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9F21C-9FEC-4B55-A8F6-C068DD38E4D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F256-3E5B-45FD-93C3-34F1247DF4C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A6458-0DEF-434E-94B6-F60BDE3954B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4E60-635E-4E13-8D82-A39430DAB0E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03C8-0911-47CA-B5E2-B3906C8A84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C6C1-F302-4436-8113-19B51CEF8A7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6" Type="http://schemas.openxmlformats.org/officeDocument/2006/relationships/slideLayout" Target="../slideLayouts/slideLayout13.xml"/><Relationship Id="rId15" Type="http://schemas.openxmlformats.org/officeDocument/2006/relationships/themeOverride" Target="../theme/themeOverride1.xml"/><Relationship Id="rId14" Type="http://schemas.openxmlformats.org/officeDocument/2006/relationships/image" Target="../media/image5.jpe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8" Type="http://schemas.openxmlformats.org/officeDocument/2006/relationships/slideLayout" Target="../slideLayouts/slideLayout19.xml"/><Relationship Id="rId17" Type="http://schemas.openxmlformats.org/officeDocument/2006/relationships/tags" Target="../tags/tag22.xml"/><Relationship Id="rId16" Type="http://schemas.openxmlformats.org/officeDocument/2006/relationships/image" Target="../media/image9.png"/><Relationship Id="rId15" Type="http://schemas.openxmlformats.org/officeDocument/2006/relationships/image" Target="../media/image8.png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24.xml"/><Relationship Id="rId2" Type="http://schemas.openxmlformats.org/officeDocument/2006/relationships/image" Target="../media/image4.png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4.xml"/><Relationship Id="rId3" Type="http://schemas.openxmlformats.org/officeDocument/2006/relationships/themeOverride" Target="../theme/themeOverride2.xml"/><Relationship Id="rId2" Type="http://schemas.openxmlformats.org/officeDocument/2006/relationships/image" Target="../media/image3.pn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4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hemeOverride" Target="../theme/themeOverride3.xml"/><Relationship Id="rId2" Type="http://schemas.openxmlformats.org/officeDocument/2006/relationships/image" Target="../media/image3.pn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7.png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16" Type="http://schemas.openxmlformats.org/officeDocument/2006/relationships/image" Target="../media/image4.png"/><Relationship Id="rId15" Type="http://schemas.openxmlformats.org/officeDocument/2006/relationships/image" Target="../media/image13.png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hemeOverride" Target="../theme/themeOverride4.xml"/><Relationship Id="rId2" Type="http://schemas.openxmlformats.org/officeDocument/2006/relationships/image" Target="../media/image3.png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9" Type="http://schemas.openxmlformats.org/officeDocument/2006/relationships/image" Target="../media/image15.jpeg"/><Relationship Id="rId18" Type="http://schemas.openxmlformats.org/officeDocument/2006/relationships/image" Target="../media/image7.png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70000"/>
          </a:blip>
          <a:srcRect t="21476" b="21476"/>
          <a:stretch>
            <a:fillRect/>
          </a:stretch>
        </p:blipFill>
        <p:spPr>
          <a:xfrm>
            <a:off x="0" y="-12700"/>
            <a:ext cx="12192000" cy="391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93700" y="4000500"/>
            <a:ext cx="114046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44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基于图粗化的社交网络分析系统的设计与实现</a:t>
            </a:r>
            <a:endParaRPr lang="en-US" sz="4400" b="1" i="0" u="none" strike="noStrike">
              <a:solidFill>
                <a:srgbClr val="6B02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37465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5715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答辩人</a:t>
            </a:r>
            <a:endParaRPr lang="en-US" sz="1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石家伊</a:t>
            </a:r>
            <a:endParaRPr 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921000" y="57150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指导教师</a:t>
            </a:r>
            <a:endParaRPr lang="en-US"/>
          </a:p>
          <a:p>
            <a:pPr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温延龙 教授</a:t>
            </a:r>
            <a:endParaRPr 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588000" y="5715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专业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信息安全</a:t>
            </a:r>
            <a:endParaRPr 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001000" y="5715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日期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2026年5月</a:t>
            </a:r>
            <a:endParaRPr 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" r="31"/>
          <a:stretch>
            <a:fillRect/>
          </a:stretch>
        </p:blipFill>
        <p:spPr>
          <a:xfrm>
            <a:off x="0" y="0"/>
            <a:ext cx="12191999" cy="687299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255" y="0"/>
            <a:ext cx="12191999" cy="6872990"/>
          </a:xfrm>
          <a:prstGeom prst="rect">
            <a:avLst/>
          </a:prstGeom>
          <a:gradFill flip="none" rotWithShape="1">
            <a:gsLst>
              <a:gs pos="885">
                <a:schemeClr val="bg1"/>
              </a:gs>
              <a:gs pos="44000">
                <a:schemeClr val="bg1">
                  <a:alpha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+mn-ea"/>
            </a:endParaRPr>
          </a:p>
        </p:txBody>
      </p:sp>
      <p:sp>
        <p:nvSpPr>
          <p:cNvPr id="23" name="标题 4"/>
          <p:cNvSpPr txBox="1"/>
          <p:nvPr/>
        </p:nvSpPr>
        <p:spPr>
          <a:xfrm>
            <a:off x="488039" y="551715"/>
            <a:ext cx="1840453" cy="7877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dist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0" b="1" kern="1200" spc="6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60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目录</a:t>
            </a:r>
            <a:endParaRPr kumimoji="0" lang="zh-CN" altLang="en-US" b="1" i="0" u="none" strike="noStrike" kern="1200" cap="none" spc="60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V="1">
            <a:off x="2503814" y="596670"/>
            <a:ext cx="237886" cy="742836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4"/>
            </p:custDataLst>
          </p:nvPr>
        </p:nvGrpSpPr>
        <p:grpSpPr>
          <a:xfrm>
            <a:off x="6167647" y="1659470"/>
            <a:ext cx="5815965" cy="4220845"/>
            <a:chOff x="6363319" y="1659470"/>
            <a:chExt cx="5815965" cy="4220845"/>
          </a:xfrm>
        </p:grpSpPr>
        <p:sp>
          <p:nvSpPr>
            <p:cNvPr id="16" name="矩形: 圆角 15"/>
            <p:cNvSpPr/>
            <p:nvPr>
              <p:custDataLst>
                <p:tags r:id="rId5"/>
              </p:custDataLst>
            </p:nvPr>
          </p:nvSpPr>
          <p:spPr>
            <a:xfrm>
              <a:off x="6363319" y="1659470"/>
              <a:ext cx="5530850" cy="4220845"/>
            </a:xfrm>
            <a:prstGeom prst="roundRect">
              <a:avLst>
                <a:gd name="adj" fmla="val 11631"/>
              </a:avLst>
            </a:prstGeom>
            <a:solidFill>
              <a:srgbClr val="E1D7D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kern="1200">
                <a:sym typeface="+mn-ea"/>
              </a:endParaRPr>
            </a:p>
          </p:txBody>
        </p:sp>
        <p:sp>
          <p:nvSpPr>
            <p:cNvPr id="24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7661894" y="1959825"/>
              <a:ext cx="4517390" cy="644525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研究背景与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主要工作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文本占位符 7"/>
            <p:cNvSpPr txBox="1"/>
            <p:nvPr>
              <p:custDataLst>
                <p:tags r:id="rId7"/>
              </p:custDataLst>
            </p:nvPr>
          </p:nvSpPr>
          <p:spPr>
            <a:xfrm>
              <a:off x="7661928" y="3996571"/>
              <a:ext cx="411632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3600" b="1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系统设计与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实现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" name="文本占位符 9"/>
            <p:cNvSpPr txBox="1"/>
            <p:nvPr>
              <p:custDataLst>
                <p:tags r:id="rId8"/>
              </p:custDataLst>
            </p:nvPr>
          </p:nvSpPr>
          <p:spPr>
            <a:xfrm>
              <a:off x="7661928" y="5015252"/>
              <a:ext cx="414423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3600" b="1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总结与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展望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" name="文本占位符 11"/>
            <p:cNvSpPr txBox="1"/>
            <p:nvPr>
              <p:custDataLst>
                <p:tags r:id="rId9"/>
              </p:custDataLst>
            </p:nvPr>
          </p:nvSpPr>
          <p:spPr>
            <a:xfrm>
              <a:off x="7661928" y="2977889"/>
              <a:ext cx="411632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方法优化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" name="椭圆 1"/>
            <p:cNvSpPr/>
            <p:nvPr>
              <p:custDataLst>
                <p:tags r:id="rId10"/>
              </p:custDataLst>
            </p:nvPr>
          </p:nvSpPr>
          <p:spPr>
            <a:xfrm>
              <a:off x="6680496" y="1861081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kern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01</a:t>
              </a:r>
              <a:endPara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" name="椭圆 3"/>
            <p:cNvSpPr/>
            <p:nvPr>
              <p:custDataLst>
                <p:tags r:id="rId11"/>
              </p:custDataLst>
            </p:nvPr>
          </p:nvSpPr>
          <p:spPr>
            <a:xfrm>
              <a:off x="6680496" y="2877434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kern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02</a:t>
              </a:r>
              <a:endPara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12"/>
              </p:custDataLst>
            </p:nvPr>
          </p:nvSpPr>
          <p:spPr>
            <a:xfrm>
              <a:off x="6680496" y="3893787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kern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03</a:t>
              </a:r>
              <a:endPara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" name="椭圆 5"/>
            <p:cNvSpPr/>
            <p:nvPr>
              <p:custDataLst>
                <p:tags r:id="rId13"/>
              </p:custDataLst>
            </p:nvPr>
          </p:nvSpPr>
          <p:spPr>
            <a:xfrm>
              <a:off x="6680496" y="4910140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kern="12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04</a:t>
              </a:r>
              <a:endParaRPr lang="en-US" altLang="zh-CN" sz="2000" b="1" kern="12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3" name="流程图: 数据 12"/>
          <p:cNvSpPr/>
          <p:nvPr/>
        </p:nvSpPr>
        <p:spPr>
          <a:xfrm>
            <a:off x="912872" y="1659470"/>
            <a:ext cx="4915811" cy="4220633"/>
          </a:xfrm>
          <a:prstGeom prst="flowChartInputOutput">
            <a:avLst/>
          </a:prstGeom>
          <a:solidFill>
            <a:srgbClr val="EDE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12" name="流程图: 数据 11"/>
          <p:cNvSpPr/>
          <p:nvPr/>
        </p:nvSpPr>
        <p:spPr>
          <a:xfrm>
            <a:off x="710585" y="1659471"/>
            <a:ext cx="4915811" cy="4220633"/>
          </a:xfrm>
          <a:prstGeom prst="flowChartInputOutput">
            <a:avLst/>
          </a:prstGeom>
          <a:gradFill flip="none" rotWithShape="1">
            <a:gsLst>
              <a:gs pos="0">
                <a:srgbClr val="6B0261">
                  <a:tint val="66000"/>
                  <a:satMod val="160000"/>
                </a:srgbClr>
              </a:gs>
              <a:gs pos="50000">
                <a:srgbClr val="6B0261">
                  <a:tint val="44500"/>
                  <a:satMod val="160000"/>
                </a:srgbClr>
              </a:gs>
              <a:gs pos="100000">
                <a:srgbClr val="6B0261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10" name="流程图: 数据 9"/>
          <p:cNvSpPr/>
          <p:nvPr/>
        </p:nvSpPr>
        <p:spPr>
          <a:xfrm>
            <a:off x="488039" y="1659472"/>
            <a:ext cx="4915811" cy="4220633"/>
          </a:xfrm>
          <a:prstGeom prst="flowChartInputOutp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4100" y="1659472"/>
            <a:ext cx="6330950" cy="4220633"/>
          </a:xfrm>
          <a:prstGeom prst="parallelogram">
            <a:avLst>
              <a:gd name="adj" fmla="val 24850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2" name="矩形 1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直角三角形 2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 descr="C:/Users/25616/Desktop/微信图片_20250723234641.jpg微信图片_20250723234641"/>
          <p:cNvPicPr>
            <a:picLocks noChangeAspect="1"/>
          </p:cNvPicPr>
          <p:nvPr/>
        </p:nvPicPr>
        <p:blipFill>
          <a:blip r:embed="rId1">
            <a:alphaModFix amt="70000"/>
          </a:blip>
          <a:srcRect t="17240" b="17240"/>
          <a:stretch>
            <a:fillRect/>
          </a:stretch>
        </p:blipFill>
        <p:spPr>
          <a:xfrm>
            <a:off x="0" y="0"/>
            <a:ext cx="12191999" cy="3911141"/>
          </a:xfrm>
          <a:prstGeom prst="rect">
            <a:avLst/>
          </a:prstGeom>
        </p:spPr>
      </p:pic>
      <p:sp>
        <p:nvSpPr>
          <p:cNvPr id="6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ea"/>
                <a:sym typeface="+mn-lt"/>
              </a:rPr>
              <a:t>01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1830705" y="4779645"/>
            <a:ext cx="8531225" cy="83756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54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研究背景与</a:t>
            </a:r>
            <a:r>
              <a:rPr sz="54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主要工作</a:t>
            </a:r>
            <a:endParaRPr sz="540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2695" y="2303304"/>
            <a:ext cx="5798456" cy="5762171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40610" y="190546"/>
            <a:ext cx="3693436" cy="632522"/>
            <a:chOff x="513139" y="331796"/>
            <a:chExt cx="3693436" cy="632522"/>
          </a:xfrm>
        </p:grpSpPr>
        <p:sp>
          <p:nvSpPr>
            <p:cNvPr id="28" name="文本框 27"/>
            <p:cNvSpPr txBox="1"/>
            <p:nvPr/>
          </p:nvSpPr>
          <p:spPr>
            <a:xfrm>
              <a:off x="1178895" y="380753"/>
              <a:ext cx="302768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algn="l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  <a:defRPr/>
              </a:pPr>
              <a:r>
                <a:rPr kumimoji="0" lang="en-US" sz="3200" b="1" i="0" u="none" strike="noStrike" kern="0" cap="none" spc="0" normalizeH="0" baseline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研究背景与问题</a:t>
              </a:r>
              <a:endParaRPr kumimoji="0" lang="en-US" sz="3200" b="1" i="0" u="none" strike="noStrike" kern="0" cap="none" spc="0" normalizeH="0" baseline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13139" y="331796"/>
              <a:ext cx="604048" cy="604048"/>
              <a:chOff x="514213" y="245544"/>
              <a:chExt cx="604048" cy="60404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514213" y="245544"/>
                <a:ext cx="451648" cy="4516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66613" y="397944"/>
                <a:ext cx="451648" cy="451648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5"/>
            </p:custDataLst>
          </p:nvPr>
        </p:nvSpPr>
        <p:spPr>
          <a:xfrm>
            <a:off x="321391" y="2607018"/>
            <a:ext cx="363794" cy="363794"/>
          </a:xfrm>
          <a:prstGeom prst="ellipse">
            <a:avLst/>
          </a:prstGeom>
          <a:solidFill>
            <a:schemeClr val="accent1">
              <a:alpha val="2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cs typeface="+mn-cs"/>
            </a:endParaRPr>
          </a:p>
        </p:txBody>
      </p:sp>
      <p:sp>
        <p:nvSpPr>
          <p:cNvPr id="5" name="椭圆 4"/>
          <p:cNvSpPr/>
          <p:nvPr>
            <p:custDataLst>
              <p:tags r:id="rId6"/>
            </p:custDataLst>
          </p:nvPr>
        </p:nvSpPr>
        <p:spPr>
          <a:xfrm>
            <a:off x="321391" y="962949"/>
            <a:ext cx="363794" cy="363794"/>
          </a:xfrm>
          <a:prstGeom prst="ellipse">
            <a:avLst/>
          </a:prstGeom>
          <a:solidFill>
            <a:schemeClr val="accent1">
              <a:alpha val="2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 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>
            <p:custDataLst>
              <p:tags r:id="rId7"/>
            </p:custDataLst>
          </p:nvPr>
        </p:nvCxnSpPr>
        <p:spPr>
          <a:xfrm>
            <a:off x="784583" y="1538529"/>
            <a:ext cx="5101763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440433" y="983775"/>
            <a:ext cx="27237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研究背景</a:t>
            </a:r>
            <a:endParaRPr kumimoji="0" lang="zh-CN" altLang="en-US" sz="240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>
            <p:custDataLst>
              <p:tags r:id="rId9"/>
            </p:custDataLst>
          </p:nvPr>
        </p:nvCxnSpPr>
        <p:spPr>
          <a:xfrm>
            <a:off x="476250" y="1539297"/>
            <a:ext cx="417870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321310" y="1604645"/>
            <a:ext cx="1137285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社交网络规模呈指数级增长，结构愈发复杂，传统分析方法在面对海量数据时，正面临着严峻的算力与存储瓶颈。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1"/>
            </p:custDataLst>
          </p:nvPr>
        </p:nvCxnSpPr>
        <p:spPr>
          <a:xfrm>
            <a:off x="784583" y="3224292"/>
            <a:ext cx="5101763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440433" y="2623183"/>
            <a:ext cx="27237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问题与解决</a:t>
            </a:r>
            <a:r>
              <a: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方案</a:t>
            </a:r>
            <a:endParaRPr kumimoji="0" lang="zh-CN" altLang="en-US" sz="240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cs typeface="+mn-cs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3"/>
            </p:custDataLst>
          </p:nvPr>
        </p:nvCxnSpPr>
        <p:spPr>
          <a:xfrm>
            <a:off x="476250" y="3225060"/>
            <a:ext cx="417870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5" name="矩形 34"/>
          <p:cNvSpPr/>
          <p:nvPr>
            <p:custDataLst>
              <p:tags r:id="rId14"/>
            </p:custDataLst>
          </p:nvPr>
        </p:nvSpPr>
        <p:spPr>
          <a:xfrm>
            <a:off x="440690" y="3339465"/>
            <a:ext cx="2136775" cy="5378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、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现存问题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cs typeface="+mn-cs"/>
            </a:endParaRPr>
          </a:p>
          <a:p>
            <a:pPr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250" y="3891280"/>
            <a:ext cx="2258060" cy="21755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4745" y="3891280"/>
            <a:ext cx="2357755" cy="21723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文本框 16"/>
          <p:cNvSpPr txBox="1"/>
          <p:nvPr/>
        </p:nvSpPr>
        <p:spPr>
          <a:xfrm>
            <a:off x="8637270" y="3891280"/>
            <a:ext cx="3256280" cy="2331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l"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问题本质：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原图中许多节点的属性模式与连接关系高度相似，信息可以被简化。</a:t>
            </a:r>
            <a:endParaRPr kumimoji="0" lang="zh-CN" altLang="en-US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cs typeface="+mn-cs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l"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解决方案：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利用图粗化技术聚合相似节点为“超节点”，构建小规模粗图，在降低计算复杂度的同时保留关键信息。</a:t>
            </a:r>
            <a:endParaRPr kumimoji="0" lang="zh-CN" altLang="en-US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50185" y="3853815"/>
            <a:ext cx="3464560" cy="2622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600" b="1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sym typeface="+mn-ea"/>
              </a:rPr>
              <a:t>数据规模巨大：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sym typeface="+mn-ea"/>
              </a:rPr>
              <a:t>社交网络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sym typeface="+mn-ea"/>
              </a:rPr>
              <a:t>的节点数、边数和特征维度都很高，内存与显存资源消耗巨大，使用传统方法难以在单机上并行处理。</a:t>
            </a:r>
            <a:endParaRPr lang="zh-CN" altLang="en-US" sz="160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600" b="1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sym typeface="+mn-ea"/>
              </a:rPr>
              <a:t>结构刻画困难：</a:t>
            </a:r>
            <a:r>
              <a:rPr lang="zh-CN" altLang="en-US" sz="160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sym typeface="+mn-ea"/>
              </a:rPr>
              <a:t>现代社交图谱多维特征复杂，传统模型或简单抽样难以完整捕捉节点间深层关联。</a:t>
            </a:r>
            <a:endParaRPr lang="zh-CN" altLang="en-US" sz="160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30000"/>
              </a:lnSpc>
            </a:pPr>
            <a:endParaRPr lang="zh-CN" altLang="en-US" sz="160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7"/>
            </p:custDataLst>
          </p:nvPr>
        </p:nvSpPr>
        <p:spPr>
          <a:xfrm>
            <a:off x="6214745" y="3339465"/>
            <a:ext cx="2136775" cy="5378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、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思源黑体 CN Regular"/>
                <a:ea typeface="微软雅黑" panose="020B0503020204020204" charset="-122"/>
                <a:cs typeface="+mn-cs"/>
              </a:rPr>
              <a:t>解决方案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cs typeface="+mn-cs"/>
            </a:endParaRPr>
          </a:p>
          <a:p>
            <a:pPr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思源黑体 CN Regular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"/>
          </a:blip>
          <a:srcRect t="15" b="15"/>
          <a:stretch>
            <a:fillRect/>
          </a:stretch>
        </p:blipFill>
        <p:spPr>
          <a:xfrm>
            <a:off x="7924800" y="2298700"/>
            <a:ext cx="5803900" cy="576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104900" y="241300"/>
            <a:ext cx="508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主要工作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32926" b="32926"/>
          <a:stretch>
            <a:fillRect/>
          </a:stretch>
        </p:blipFill>
        <p:spPr>
          <a:xfrm>
            <a:off x="9194800" y="203200"/>
            <a:ext cx="26035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576" r="576"/>
          <a:stretch>
            <a:fillRect/>
          </a:stretch>
        </p:blipFill>
        <p:spPr>
          <a:xfrm>
            <a:off x="304800" y="6375400"/>
            <a:ext cx="22733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44500" y="1409700"/>
            <a:ext cx="5511800" cy="2159000"/>
          </a:xfrm>
          <a:prstGeom prst="roundRect">
            <a:avLst>
              <a:gd name="adj" fmla="val 7058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35000" y="1778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1757045" y="1600200"/>
            <a:ext cx="4116705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zh-CN" alt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</a:t>
            </a:r>
            <a:r>
              <a:rPr lang="en-US" altLang="zh-CN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UGC </a:t>
            </a:r>
            <a:r>
              <a:rPr lang="zh-CN" alt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方法，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优化特征聚合与标签处理策略</a:t>
            </a:r>
            <a:r>
              <a:rPr lang="zh-CN" alt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提出</a:t>
            </a:r>
            <a:r>
              <a:rPr lang="en-US" sz="16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相似度加权聚合方法</a:t>
            </a:r>
            <a:r>
              <a:rPr lang="en-US" sz="1600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提升超节点特征表达能力</a:t>
            </a:r>
            <a:endParaRPr 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设计</a:t>
            </a:r>
            <a:r>
              <a:rPr lang="en-US" sz="16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四种多标签处理策略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，以适应</a:t>
            </a:r>
            <a:r>
              <a:rPr lang="zh-CN" alt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多标签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社交网络数据</a:t>
            </a:r>
            <a:r>
              <a:rPr lang="zh-CN" alt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集。</a:t>
            </a:r>
            <a:endParaRPr lang="zh-CN" alt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6235700" y="1409700"/>
            <a:ext cx="5511800" cy="2159000"/>
          </a:xfrm>
          <a:prstGeom prst="roundRect">
            <a:avLst>
              <a:gd name="adj" fmla="val 7058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477000" y="17780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7747000" y="1600200"/>
            <a:ext cx="381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完善粗化质量评价体系，引入</a:t>
            </a:r>
            <a:r>
              <a:rPr lang="en-US" sz="16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“平均标签纯度”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</a:t>
            </a:r>
            <a:r>
              <a:rPr lang="en-US" sz="16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“低纯度超节点占比”</a:t>
            </a:r>
            <a:r>
              <a:rPr 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两项新指标，</a:t>
            </a:r>
            <a:r>
              <a:rPr lang="zh-CN" altLang="en-US" sz="16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从超节点内部标签一致性的角度补充评价方法。</a:t>
            </a:r>
            <a:endParaRPr lang="zh-CN" alt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444500" y="3860800"/>
            <a:ext cx="5511800" cy="2159000"/>
          </a:xfrm>
          <a:prstGeom prst="roundRect">
            <a:avLst>
              <a:gd name="adj" fmla="val 7058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635000" y="4254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1905000" y="4051300"/>
            <a:ext cx="381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600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在多个真实社交网络数据集上进行全面评估，对比改进方法与基线方法的性能差异，验证了算法有效性</a:t>
            </a:r>
            <a:r>
              <a:rPr lang="zh-CN" altLang="en-US" sz="1600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6235700" y="3860800"/>
            <a:ext cx="5511800" cy="2159000"/>
          </a:xfrm>
          <a:prstGeom prst="roundRect">
            <a:avLst>
              <a:gd name="adj" fmla="val 7058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6477000" y="4254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7747000" y="4051300"/>
            <a:ext cx="381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600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构建基于 B/S 架构的</a:t>
            </a:r>
            <a:r>
              <a:rPr lang="zh-CN" altLang="en-US" sz="1600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图粗化分析系统</a:t>
            </a:r>
            <a:r>
              <a:rPr lang="en-US" sz="1600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，打通从原始数据</a:t>
            </a:r>
            <a:r>
              <a:rPr lang="zh-CN" altLang="en-US" sz="1600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上传</a:t>
            </a:r>
            <a:r>
              <a:rPr lang="en-US" sz="1600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、图粗化处理到结果可视化分析的全流程</a:t>
            </a:r>
            <a:r>
              <a:rPr lang="zh-CN" altLang="en-US" sz="1600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16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596265" y="2865120"/>
            <a:ext cx="1308735" cy="51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defRPr/>
            </a:pPr>
            <a:r>
              <a:rPr lang="en-US" sz="20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方法改进</a:t>
            </a:r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6438265" y="2865120"/>
            <a:ext cx="1308735" cy="51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defRPr/>
            </a:pPr>
            <a:r>
              <a:rPr lang="en-US" sz="20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指标补充</a:t>
            </a:r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596265" y="5316220"/>
            <a:ext cx="1308735" cy="51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defRPr/>
            </a:pPr>
            <a:r>
              <a:rPr lang="en-US" sz="20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实验验证</a:t>
            </a:r>
            <a:endParaRPr lang="zh-CN" altLang="en-US" sz="2000" b="1">
              <a:solidFill>
                <a:srgbClr val="6B02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6438265" y="5316220"/>
            <a:ext cx="1308735" cy="51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defRPr/>
            </a:pPr>
            <a:r>
              <a:rPr lang="zh-CN" altLang="en-US" sz="20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</a:t>
            </a:r>
            <a:r>
              <a:rPr lang="zh-CN" altLang="en-US" sz="20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</a:t>
            </a:r>
            <a:endParaRPr lang="zh-CN" altLang="en-US" sz="2000" b="1">
              <a:solidFill>
                <a:srgbClr val="6B02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kern="1200">
                <a:sym typeface="+mn-ea"/>
              </a:endParaRPr>
            </a:p>
          </p:txBody>
        </p:sp>
        <p:sp>
          <p:nvSpPr>
            <p:cNvPr id="7" name="直角三角形 6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kern="1200">
                <a:sym typeface="+mn-ea"/>
              </a:endParaRPr>
            </a:p>
          </p:txBody>
        </p:sp>
      </p:grpSp>
      <p:pic>
        <p:nvPicPr>
          <p:cNvPr id="5" name="图片 4" descr="C:/Users/25616/Desktop/微信图片_20250723234653.jpg微信图片_20250723234653"/>
          <p:cNvPicPr>
            <a:picLocks noChangeAspect="1"/>
          </p:cNvPicPr>
          <p:nvPr/>
        </p:nvPicPr>
        <p:blipFill>
          <a:blip r:embed="rId1">
            <a:alphaModFix amt="70000"/>
          </a:blip>
          <a:srcRect t="17240" b="17240"/>
          <a:stretch>
            <a:fillRect/>
          </a:stretch>
        </p:blipFill>
        <p:spPr>
          <a:xfrm>
            <a:off x="0" y="0"/>
            <a:ext cx="12191999" cy="391114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+mn-ea"/>
            </a:endParaRPr>
          </a:p>
        </p:txBody>
      </p:sp>
      <p:sp>
        <p:nvSpPr>
          <p:cNvPr id="9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ea"/>
                <a:sym typeface="+mn-lt"/>
              </a:rPr>
              <a:t>02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780204"/>
            <a:ext cx="6424116" cy="83756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方法优化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120" y="2146300"/>
            <a:ext cx="7255510" cy="332168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1104900" y="241300"/>
            <a:ext cx="53594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UGC图粗化方法概述</a:t>
            </a:r>
            <a:endParaRPr lang="en-US" sz="32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44444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44444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0365" y="946785"/>
            <a:ext cx="11462385" cy="1133475"/>
          </a:xfrm>
          <a:prstGeom prst="roundRect">
            <a:avLst>
              <a:gd name="adj" fmla="val 5714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80365" y="946785"/>
            <a:ext cx="11462385" cy="11334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通用图粗化 (UGC)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b="0" i="0" u="none" strike="noStrike">
                <a:solidFill>
                  <a:srgbClr val="F0F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UGC是一种高效且通用的图粗化方法，其核心思想是在统一框架下综合考虑节点属性和图结构信息，以生成高质量的粗图。它将复杂大图转化为保留关键信息的粗图，在大幅降低计算成本的同时维持图的核心特征。</a:t>
            </a:r>
            <a:endParaRPr lang="en-US" sz="1200" b="0" i="1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2"/>
            </p:custDataLst>
          </p:nvPr>
        </p:nvGrpSpPr>
        <p:grpSpPr>
          <a:xfrm>
            <a:off x="138430" y="5471160"/>
            <a:ext cx="2890520" cy="1270000"/>
            <a:chOff x="6850" y="6166"/>
            <a:chExt cx="5800" cy="2000"/>
          </a:xfrm>
        </p:grpSpPr>
        <p:sp>
          <p:nvSpPr>
            <p:cNvPr id="7" name="AutoShape 7"/>
            <p:cNvSpPr/>
            <p:nvPr>
              <p:custDataLst>
                <p:tags r:id="rId3"/>
              </p:custDataLst>
            </p:nvPr>
          </p:nvSpPr>
          <p:spPr>
            <a:xfrm>
              <a:off x="6850" y="6166"/>
              <a:ext cx="5800" cy="2000"/>
            </a:xfrm>
            <a:prstGeom prst="roundRect">
              <a:avLst>
                <a:gd name="adj" fmla="val 12000"/>
              </a:avLst>
            </a:prstGeom>
            <a:solidFill>
              <a:srgbClr val="F3EDF5">
                <a:alpha val="100000"/>
              </a:srgbClr>
            </a:solidFill>
            <a:ln w="12700" cap="flat" cmpd="sng">
              <a:solidFill>
                <a:srgbClr val="6B0261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>
              <p:custDataLst>
                <p:tags r:id="rId4"/>
              </p:custDataLst>
            </p:nvPr>
          </p:nvSpPr>
          <p:spPr>
            <a:xfrm>
              <a:off x="7049" y="6665"/>
              <a:ext cx="1400" cy="1102"/>
            </a:xfrm>
            <a:prstGeom prst="ellipse">
              <a:avLst/>
            </a:prstGeom>
            <a:solidFill>
              <a:srgbClr val="6B026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</a:t>
              </a:r>
              <a:endParaRPr lang="en-US" sz="1100"/>
            </a:p>
          </p:txBody>
        </p:sp>
        <p:sp>
          <p:nvSpPr>
            <p:cNvPr id="9" name="AutoShape 9"/>
            <p:cNvSpPr/>
            <p:nvPr>
              <p:custDataLst>
                <p:tags r:id="rId5"/>
              </p:custDataLst>
            </p:nvPr>
          </p:nvSpPr>
          <p:spPr>
            <a:xfrm>
              <a:off x="8650" y="6366"/>
              <a:ext cx="3800" cy="1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6B026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增强节点表示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Noto Sans SC" panose="020B0200000000000000" charset="-122"/>
                  <a:sym typeface="Noto Sans SC" panose="020B0200000000000000" charset="-122"/>
                </a:rPr>
                <a:t>将节点的</a:t>
              </a:r>
              <a:r>
                <a:rPr lang="zh-CN" alt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Noto Sans SC" panose="020B0200000000000000" charset="-122"/>
                  <a:sym typeface="Noto Sans SC" panose="020B0200000000000000" charset="-122"/>
                </a:rPr>
                <a:t>特征</a:t>
              </a:r>
              <a:r>
                <a:rPr 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Noto Sans SC" panose="020B0200000000000000" charset="-122"/>
                  <a:sym typeface="Noto Sans SC" panose="020B0200000000000000" charset="-122"/>
                </a:rPr>
                <a:t>向量与邻接向量拼接融合，</a:t>
              </a:r>
              <a:r>
                <a:rPr lang="zh-CN" alt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Noto Sans SC" panose="020B0200000000000000" charset="-122"/>
                  <a:sym typeface="Noto Sans SC" panose="020B0200000000000000" charset="-122"/>
                </a:rPr>
                <a:t>形成一个更全面的节点表示。</a:t>
              </a:r>
              <a:endParaRPr lang="en-US" altLang="zh-CN" b="0" i="0" u="none" strike="noStrike">
                <a:solidFill>
                  <a:srgbClr val="3C3C3C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6"/>
            </p:custDataLst>
          </p:nvPr>
        </p:nvGrpSpPr>
        <p:grpSpPr>
          <a:xfrm>
            <a:off x="3122930" y="5471160"/>
            <a:ext cx="2891155" cy="1270000"/>
            <a:chOff x="12850" y="6166"/>
            <a:chExt cx="5800" cy="2000"/>
          </a:xfrm>
        </p:grpSpPr>
        <p:sp>
          <p:nvSpPr>
            <p:cNvPr id="10" name="AutoShape 10"/>
            <p:cNvSpPr/>
            <p:nvPr>
              <p:custDataLst>
                <p:tags r:id="rId7"/>
              </p:custDataLst>
            </p:nvPr>
          </p:nvSpPr>
          <p:spPr>
            <a:xfrm>
              <a:off x="12850" y="6166"/>
              <a:ext cx="5800" cy="2000"/>
            </a:xfrm>
            <a:prstGeom prst="roundRect">
              <a:avLst>
                <a:gd name="adj" fmla="val 12000"/>
              </a:avLst>
            </a:prstGeom>
            <a:solidFill>
              <a:srgbClr val="F3EDF5">
                <a:alpha val="100000"/>
              </a:srgbClr>
            </a:solidFill>
            <a:ln w="12700" cap="flat" cmpd="sng">
              <a:solidFill>
                <a:srgbClr val="6B0261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>
              <p:custDataLst>
                <p:tags r:id="rId8"/>
              </p:custDataLst>
            </p:nvPr>
          </p:nvSpPr>
          <p:spPr>
            <a:xfrm>
              <a:off x="13050" y="6666"/>
              <a:ext cx="1400" cy="1101"/>
            </a:xfrm>
            <a:prstGeom prst="ellipse">
              <a:avLst/>
            </a:prstGeom>
            <a:solidFill>
              <a:srgbClr val="8080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B</a:t>
              </a:r>
              <a:endParaRPr lang="en-US" sz="1100"/>
            </a:p>
          </p:txBody>
        </p:sp>
        <p:sp>
          <p:nvSpPr>
            <p:cNvPr id="12" name="AutoShape 12"/>
            <p:cNvSpPr/>
            <p:nvPr>
              <p:custDataLst>
                <p:tags r:id="rId9"/>
              </p:custDataLst>
            </p:nvPr>
          </p:nvSpPr>
          <p:spPr>
            <a:xfrm>
              <a:off x="14650" y="6366"/>
              <a:ext cx="3800" cy="1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505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LSH分桶与聚合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Noto Sans SC" panose="020B0200000000000000" charset="-122"/>
                </a:rPr>
                <a:t>采用局部敏感哈希 (LSH)技术，将相似节点聚合到同一个“哈希桶”中。</a:t>
              </a:r>
              <a:endParaRPr lang="en-US" b="0" i="0" u="none" strike="noStrike">
                <a:solidFill>
                  <a:srgbClr val="3C3C3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Noto Sans SC" panose="020B0200000000000000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10"/>
            </p:custDataLst>
          </p:nvPr>
        </p:nvGrpSpPr>
        <p:grpSpPr>
          <a:xfrm>
            <a:off x="6108065" y="5471160"/>
            <a:ext cx="2891155" cy="1270000"/>
            <a:chOff x="6850" y="8566"/>
            <a:chExt cx="5800" cy="2000"/>
          </a:xfrm>
        </p:grpSpPr>
        <p:sp>
          <p:nvSpPr>
            <p:cNvPr id="13" name="AutoShape 13"/>
            <p:cNvSpPr/>
            <p:nvPr>
              <p:custDataLst>
                <p:tags r:id="rId11"/>
              </p:custDataLst>
            </p:nvPr>
          </p:nvSpPr>
          <p:spPr>
            <a:xfrm>
              <a:off x="6850" y="8566"/>
              <a:ext cx="5800" cy="2000"/>
            </a:xfrm>
            <a:prstGeom prst="roundRect">
              <a:avLst>
                <a:gd name="adj" fmla="val 12000"/>
              </a:avLst>
            </a:prstGeom>
            <a:solidFill>
              <a:srgbClr val="F3EDF5">
                <a:alpha val="100000"/>
              </a:srgbClr>
            </a:solidFill>
            <a:ln w="12700" cap="flat" cmpd="sng">
              <a:solidFill>
                <a:srgbClr val="6B0261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>
              <p:custDataLst>
                <p:tags r:id="rId12"/>
              </p:custDataLst>
            </p:nvPr>
          </p:nvSpPr>
          <p:spPr>
            <a:xfrm>
              <a:off x="7050" y="9066"/>
              <a:ext cx="1400" cy="1101"/>
            </a:xfrm>
            <a:prstGeom prst="ellipse">
              <a:avLst/>
            </a:prstGeom>
            <a:solidFill>
              <a:srgbClr val="8080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C</a:t>
              </a:r>
              <a:endParaRPr lang="en-US" sz="1100"/>
            </a:p>
          </p:txBody>
        </p:sp>
        <p:sp>
          <p:nvSpPr>
            <p:cNvPr id="15" name="AutoShape 15"/>
            <p:cNvSpPr/>
            <p:nvPr>
              <p:custDataLst>
                <p:tags r:id="rId13"/>
              </p:custDataLst>
            </p:nvPr>
          </p:nvSpPr>
          <p:spPr>
            <a:xfrm>
              <a:off x="8650" y="8766"/>
              <a:ext cx="3800" cy="1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505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超节点生成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Noto Sans SC" panose="020B0200000000000000" charset="-122"/>
                </a:rPr>
                <a:t>同一个桶内节点聚合为“超节点”，其特征与标签</a:t>
              </a:r>
              <a:r>
                <a:rPr lang="zh-CN" alt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Noto Sans SC" panose="020B0200000000000000" charset="-122"/>
                </a:rPr>
                <a:t>分别</a:t>
              </a:r>
              <a:r>
                <a:rPr 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Noto Sans SC" panose="020B0200000000000000" charset="-122"/>
                </a:rPr>
                <a:t>通过平均和投票方式产生。</a:t>
              </a:r>
              <a:endParaRPr lang="en-US" b="0" i="0" u="none" strike="noStrike">
                <a:solidFill>
                  <a:srgbClr val="3C3C3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Noto Sans SC" panose="020B0200000000000000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4"/>
            </p:custDataLst>
          </p:nvPr>
        </p:nvGrpSpPr>
        <p:grpSpPr>
          <a:xfrm>
            <a:off x="9093200" y="5471160"/>
            <a:ext cx="2900045" cy="1270000"/>
            <a:chOff x="12850" y="8566"/>
            <a:chExt cx="5800" cy="2000"/>
          </a:xfrm>
        </p:grpSpPr>
        <p:sp>
          <p:nvSpPr>
            <p:cNvPr id="16" name="AutoShape 16"/>
            <p:cNvSpPr/>
            <p:nvPr>
              <p:custDataLst>
                <p:tags r:id="rId15"/>
              </p:custDataLst>
            </p:nvPr>
          </p:nvSpPr>
          <p:spPr>
            <a:xfrm>
              <a:off x="12850" y="8566"/>
              <a:ext cx="5800" cy="2000"/>
            </a:xfrm>
            <a:prstGeom prst="roundRect">
              <a:avLst>
                <a:gd name="adj" fmla="val 12000"/>
              </a:avLst>
            </a:prstGeom>
            <a:solidFill>
              <a:srgbClr val="F3EDF5">
                <a:alpha val="100000"/>
              </a:srgbClr>
            </a:solidFill>
            <a:ln w="12700" cap="flat" cmpd="sng">
              <a:solidFill>
                <a:srgbClr val="6B0261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7" name="AutoShape 17"/>
            <p:cNvSpPr/>
            <p:nvPr>
              <p:custDataLst>
                <p:tags r:id="rId16"/>
              </p:custDataLst>
            </p:nvPr>
          </p:nvSpPr>
          <p:spPr>
            <a:xfrm>
              <a:off x="13049" y="9066"/>
              <a:ext cx="1400" cy="1101"/>
            </a:xfrm>
            <a:prstGeom prst="ellipse">
              <a:avLst/>
            </a:prstGeom>
            <a:solidFill>
              <a:srgbClr val="6B026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D</a:t>
              </a:r>
              <a:endParaRPr lang="en-US" sz="1100"/>
            </a:p>
          </p:txBody>
        </p:sp>
        <p:sp>
          <p:nvSpPr>
            <p:cNvPr id="18" name="AutoShape 18"/>
            <p:cNvSpPr/>
            <p:nvPr>
              <p:custDataLst>
                <p:tags r:id="rId17"/>
              </p:custDataLst>
            </p:nvPr>
          </p:nvSpPr>
          <p:spPr>
            <a:xfrm>
              <a:off x="14650" y="8766"/>
              <a:ext cx="3800" cy="1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6B026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粗图构建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Noto Sans SC" panose="020B0200000000000000" charset="-122"/>
                  <a:sym typeface="Noto Sans SC" panose="020B0200000000000000" charset="-122"/>
                </a:rPr>
                <a:t>基于超节点</a:t>
              </a:r>
              <a:r>
                <a:rPr lang="zh-CN" alt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Noto Sans SC" panose="020B0200000000000000" charset="-122"/>
                  <a:sym typeface="Noto Sans SC" panose="020B0200000000000000" charset="-122"/>
                </a:rPr>
                <a:t>内部原始节点的之间</a:t>
              </a:r>
              <a:r>
                <a:rPr 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Noto Sans SC" panose="020B0200000000000000" charset="-122"/>
                  <a:sym typeface="Noto Sans SC" panose="020B0200000000000000" charset="-122"/>
                </a:rPr>
                <a:t>连接关系，构建粗图的</a:t>
              </a:r>
              <a:r>
                <a:rPr lang="zh-CN" alt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Noto Sans SC" panose="020B0200000000000000" charset="-122"/>
                  <a:sym typeface="Noto Sans SC" panose="020B0200000000000000" charset="-122"/>
                </a:rPr>
                <a:t>超边并计算</a:t>
              </a:r>
              <a:r>
                <a:rPr lang="zh-CN" altLang="en-US" b="0" i="0" u="none" strike="noStrike">
                  <a:solidFill>
                    <a:srgbClr val="3C3C3C"/>
                  </a:solidFill>
                  <a:latin typeface="等线" panose="02010600030101010101" charset="-122"/>
                  <a:ea typeface="等线" panose="02010600030101010101" charset="-122"/>
                  <a:cs typeface="Noto Sans SC" panose="020B0200000000000000" charset="-122"/>
                  <a:sym typeface="Noto Sans SC" panose="020B0200000000000000" charset="-122"/>
                </a:rPr>
                <a:t>边权。</a:t>
              </a:r>
              <a:endParaRPr lang="zh-CN" altLang="en-US" b="0" i="0" u="none" strike="noStrike">
                <a:solidFill>
                  <a:srgbClr val="3C3C3C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"/>
          </a:blip>
          <a:srcRect t="15" b="15"/>
          <a:stretch>
            <a:fillRect/>
          </a:stretch>
        </p:blipFill>
        <p:spPr>
          <a:xfrm>
            <a:off x="7924800" y="2298700"/>
            <a:ext cx="5803900" cy="576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104900" y="241300"/>
            <a:ext cx="5088255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方法改进一：单标签特征聚合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7692" t="36153" r="13461" b="36923"/>
          <a:stretch>
            <a:fillRect/>
          </a:stretch>
        </p:blipFill>
        <p:spPr>
          <a:xfrm>
            <a:off x="9194800" y="203200"/>
            <a:ext cx="26035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576" r="576"/>
          <a:stretch>
            <a:fillRect/>
          </a:stretch>
        </p:blipFill>
        <p:spPr>
          <a:xfrm>
            <a:off x="304800" y="6401435"/>
            <a:ext cx="22733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317500" y="997585"/>
            <a:ext cx="368300" cy="368300"/>
          </a:xfrm>
          <a:prstGeom prst="ellipse">
            <a:avLst/>
          </a:prstGeom>
          <a:solidFill>
            <a:srgbClr val="6B0261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25500" y="1010285"/>
            <a:ext cx="381762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 spc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/ 原始方法局限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006">
            <a:off x="787404" y="1562735"/>
            <a:ext cx="10896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 rot="-90446">
            <a:off x="787484" y="1562735"/>
            <a:ext cx="482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6B0261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444500" y="1746885"/>
            <a:ext cx="1130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平均聚合的潜在缺陷：</a:t>
            </a: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简单假设所有节点贡献相同，但在真实数据中常导致“代表性节点被稀释”（核心节点影响力削弱）与“噪声节点被放大”（边缘节点干扰整体特征）。最终生成的超节点特征缺乏足够的判别性，会直接拉低下游 GNN 模型的表现。</a:t>
            </a:r>
            <a:endParaRPr lang="en-US" sz="16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17500" y="2889885"/>
            <a:ext cx="368300" cy="368300"/>
          </a:xfrm>
          <a:prstGeom prst="ellipse">
            <a:avLst/>
          </a:prstGeom>
          <a:solidFill>
            <a:srgbClr val="6B0261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25500" y="2889885"/>
            <a:ext cx="393446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 spc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/ 相似度加权聚合方案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006">
            <a:off x="787404" y="3518535"/>
            <a:ext cx="10896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16" name="Connector 16"/>
          <p:cNvCxnSpPr/>
          <p:nvPr/>
        </p:nvCxnSpPr>
        <p:spPr>
          <a:xfrm rot="-90446">
            <a:off x="787484" y="3518535"/>
            <a:ext cx="482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6B0261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17" name="AutoShape 17"/>
          <p:cNvSpPr/>
          <p:nvPr/>
        </p:nvSpPr>
        <p:spPr>
          <a:xfrm>
            <a:off x="444500" y="3804285"/>
            <a:ext cx="3556000" cy="2362835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44500" y="3804285"/>
            <a:ext cx="3556000" cy="76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71500" y="4058285"/>
            <a:ext cx="330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6B02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核心思想</a:t>
            </a:r>
            <a:endParaRPr lang="en-US" sz="1200"/>
          </a:p>
          <a:p>
            <a:pPr indent="0" algn="just">
              <a:lnSpc>
                <a:spcPct val="117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打破“平均主义”假设，赋予超节点内与群体特征更相似的“代表性节点”更高的权重，让关键信息主导聚合结果，同时抑制噪声干扰。</a:t>
            </a:r>
            <a:endParaRPr lang="en-US" sz="16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318000" y="3804285"/>
            <a:ext cx="7430135" cy="236347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318000" y="3804285"/>
            <a:ext cx="7429500" cy="99060"/>
          </a:xfrm>
          <a:prstGeom prst="roundRect">
            <a:avLst>
              <a:gd name="adj" fmla="val 0"/>
            </a:avLst>
          </a:prstGeom>
          <a:solidFill>
            <a:srgbClr val="D9770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445000" y="4337685"/>
            <a:ext cx="7170420" cy="16986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0" rtlCol="0" anchor="t" anchorCtr="0"/>
          <a:lstStyle/>
          <a:p>
            <a:pPr indent="0" algn="ctr">
              <a:lnSpc>
                <a:spcPct val="150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1. 计算超节点所有成员的特征均值，作为“原型”。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 计算各节点与“原型”的余弦相似度。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3. 使用 Softmax 函数将相似度归一化为聚合权重。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4. 基于权重对节点特征加权求和，生成最终特征。</a:t>
            </a:r>
            <a:endParaRPr lang="en-US" sz="1600" b="0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131685" y="3956685"/>
            <a:ext cx="180340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8000"/>
              </a:lnSpc>
              <a:defRPr/>
            </a:pPr>
            <a:r>
              <a:rPr lang="en-US" sz="2000" b="1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🔧  执行步骤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"/>
          </a:blip>
          <a:srcRect t="15" b="15"/>
          <a:stretch>
            <a:fillRect/>
          </a:stretch>
        </p:blipFill>
        <p:spPr>
          <a:xfrm>
            <a:off x="7924800" y="2298700"/>
            <a:ext cx="5803900" cy="576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104900" y="241300"/>
            <a:ext cx="571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algn="l">
              <a:lnSpc>
                <a:spcPct val="100000"/>
              </a:lnSpc>
              <a:buSzTx/>
              <a:defRPr/>
            </a:pPr>
            <a:r>
              <a:rPr lang="en-US" sz="28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方法改进二：多标签处理策略</a:t>
            </a:r>
            <a:endParaRPr lang="en-US" sz="2800" b="1">
              <a:solidFill>
                <a:srgbClr val="6B02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7692" t="36153" r="13461" b="36923"/>
          <a:stretch>
            <a:fillRect/>
          </a:stretch>
        </p:blipFill>
        <p:spPr>
          <a:xfrm>
            <a:off x="9194800" y="203200"/>
            <a:ext cx="26035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444500" y="1165225"/>
            <a:ext cx="55118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571500" y="1292225"/>
            <a:ext cx="114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778000" y="1292225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V1: 第一标签策略</a:t>
            </a:r>
            <a:endParaRPr lang="en-US" sz="12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规则：</a:t>
            </a:r>
            <a:r>
              <a:rPr lang="en-US" sz="16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仅提取并使用用户的第一个标签进行同类判定。</a:t>
            </a:r>
            <a:endParaRPr lang="en-US" sz="16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600" b="1" i="0" u="none" strike="noStrike">
                <a:solidFill>
                  <a:srgbClr val="C83232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缺点：</a:t>
            </a:r>
            <a:r>
              <a:rPr lang="en-US" sz="16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严重丢失多标签信息，无法体现用户多重身份。</a:t>
            </a:r>
            <a:endParaRPr lang="en-US" sz="16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235700" y="1165225"/>
            <a:ext cx="55118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6362700" y="1292225"/>
            <a:ext cx="114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7569200" y="1292225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V2: 标签交集策略</a:t>
            </a:r>
            <a:endParaRPr lang="en-US" sz="12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若两个节点的标签集合存在任何一个共同标签，即判定为同类。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600" b="1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缺点：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条件过于宽松，容易造成“类别塌缩”，区分度过低。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444500" y="3578225"/>
            <a:ext cx="55118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571500" y="3705225"/>
            <a:ext cx="114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1778000" y="3705225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V3: 位置匹配策略</a:t>
            </a:r>
            <a:endParaRPr lang="en-US" sz="12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要求标签列表中相同位置上出现相同的标签</a:t>
            </a:r>
            <a:r>
              <a:rPr lang="zh-CN" alt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才判定为同类。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600" b="1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缺点：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过度依赖标签的输入顺序，分类有效性不确定且不稳定。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6235700" y="3578225"/>
            <a:ext cx="5511800" cy="2159000"/>
          </a:xfrm>
          <a:prstGeom prst="roundRect">
            <a:avLst>
              <a:gd name="adj" fmla="val 7058"/>
            </a:avLst>
          </a:prstGeom>
          <a:solidFill>
            <a:srgbClr val="F3E8F8">
              <a:alpha val="100000"/>
            </a:srgbClr>
          </a:solidFill>
          <a:ln w="25400" cap="flat" cmpd="sng">
            <a:solidFill>
              <a:srgbClr val="6B026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6362700" y="3705225"/>
            <a:ext cx="114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7569200" y="3705225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V4: Jaccard 阈值策略 (推荐)</a:t>
            </a:r>
            <a:endParaRPr lang="en-US" sz="12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6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计算两节点标签集合的Jaccard相似度，当数值大于设定阈值时判定同类。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优点：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兼顾了多标签信息的利用与类别区分度的保持，适应性最强。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44500" y="5969000"/>
            <a:ext cx="11303000" cy="762000"/>
          </a:xfrm>
          <a:prstGeom prst="roundRect">
            <a:avLst>
              <a:gd name="adj" fmla="val 13333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08000" y="60325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💡 结论：V4 策略在信息利用的充分性和分类任务的效果上取得了最佳平衡，为最终采用方案。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04900" y="190500"/>
            <a:ext cx="36449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8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实验结果与分析</a:t>
            </a:r>
            <a:endParaRPr lang="en-US" sz="2800" b="1">
              <a:solidFill>
                <a:srgbClr val="6B02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32926" b="32926"/>
          <a:stretch>
            <a:fillRect/>
          </a:stretch>
        </p:blipFill>
        <p:spPr>
          <a:xfrm>
            <a:off x="9194800" y="203200"/>
            <a:ext cx="26035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743700" y="1054100"/>
            <a:ext cx="4822190" cy="2381885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80200" y="1117600"/>
            <a:ext cx="4794885" cy="23177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 rot="5400000">
            <a:off x="6692900" y="1104900"/>
            <a:ext cx="139700" cy="165100"/>
          </a:xfrm>
          <a:prstGeom prst="rtTriangle">
            <a:avLst/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845300" y="1189355"/>
            <a:ext cx="4444365" cy="2116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9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结果一：单标签特征聚合优化</a:t>
            </a:r>
            <a:endParaRPr lang="en-US" sz="19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核心结论：相似度加权聚合能提升分类效果，尤其在高压缩率下。</a:t>
            </a:r>
            <a:endParaRPr lang="en-US" sz="16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zh-CN" altLang="en-US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分别在</a:t>
            </a:r>
            <a:r>
              <a:rPr lang="en-US" altLang="zh-CN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50%</a:t>
            </a:r>
            <a:r>
              <a:rPr lang="zh-CN" altLang="en-US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70% </a:t>
            </a:r>
            <a:r>
              <a:rPr lang="zh-CN" altLang="en-US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压缩率下进行实验，其中，高压缩率下的提升效果更好。</a:t>
            </a:r>
            <a:endParaRPr lang="zh-CN" altLang="en-US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zh-CN" altLang="en-US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altLang="zh-CN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70%</a:t>
            </a:r>
            <a:r>
              <a:rPr lang="en-US" altLang="zh-CN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压缩率下，加权聚合方法在 </a:t>
            </a:r>
            <a:r>
              <a:rPr lang="en-US" altLang="zh-CN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 </a:t>
            </a:r>
            <a:r>
              <a:rPr lang="zh-CN" altLang="en-US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个社交网络数据集中</a:t>
            </a:r>
            <a:r>
              <a:rPr lang="zh-CN" altLang="en-US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均实现提升，说明该方法在高压缩场景下更具优势。</a:t>
            </a:r>
            <a:endParaRPr lang="zh-CN" altLang="en-US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55600" y="3784600"/>
            <a:ext cx="4923790" cy="2895600"/>
            <a:chOff x="680" y="5480"/>
            <a:chExt cx="8360" cy="4560"/>
          </a:xfrm>
        </p:grpSpPr>
        <p:sp>
          <p:nvSpPr>
            <p:cNvPr id="11" name="AutoShape 11"/>
            <p:cNvSpPr/>
            <p:nvPr/>
          </p:nvSpPr>
          <p:spPr>
            <a:xfrm>
              <a:off x="820" y="5480"/>
              <a:ext cx="8220" cy="4220"/>
            </a:xfrm>
            <a:prstGeom prst="roundRect">
              <a:avLst>
                <a:gd name="adj" fmla="val 0"/>
              </a:avLst>
            </a:prstGeom>
            <a:solidFill>
              <a:srgbClr val="6B026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700" y="5600"/>
              <a:ext cx="8220" cy="444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317500" algn="ctr" rotWithShape="0">
                <a:srgbClr val="00000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 rot="5400000">
              <a:off x="700" y="5600"/>
              <a:ext cx="300" cy="340"/>
            </a:xfrm>
            <a:prstGeom prst="rtTriangle">
              <a:avLst/>
            </a:prstGeom>
            <a:solidFill>
              <a:srgbClr val="6B026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000" y="5800"/>
              <a:ext cx="7600" cy="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127000" tIns="101600" rIns="127000" bIns="101600" rtlCol="0" anchor="t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6B026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结果二：多标签数据集策略对比</a:t>
              </a:r>
              <a:endParaRPr lang="en-US" sz="1100"/>
            </a:p>
            <a:p>
              <a:pPr indent="0" algn="l">
                <a:lnSpc>
                  <a:spcPct val="108000"/>
                </a:lnSpc>
                <a:spcBef>
                  <a:spcPts val="800"/>
                </a:spcBef>
              </a:pPr>
              <a:r>
                <a:rPr lang="en-US" sz="1600" b="1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核心结论：V4 (Jaccard阈值) 策略表现最优，兼具稳定性与高性能。</a:t>
              </a:r>
              <a:endPara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8000"/>
                </a:lnSpc>
                <a:spcBef>
                  <a:spcPts val="600"/>
                </a:spcBef>
              </a:pPr>
              <a:r>
                <a:rPr lang="en-US" b="0" i="0" u="none" strike="noStrike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r>
                <a:rPr lang="en-US" b="1" i="0" u="none" strike="noStrike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V1策略：</a:t>
              </a:r>
              <a:r>
                <a:rPr lang="en-US" b="0" i="0" u="none" strike="noStrike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因丢失大量标签信息，分类准确率通常为最低水平。</a:t>
              </a:r>
              <a:br>
                <a:rPr lang="en-US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b="0" i="0" u="none" strike="noStrike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r>
                <a:rPr lang="en-US" b="1" i="0" u="none" strike="noStrike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V2策略：</a:t>
              </a:r>
              <a:r>
                <a:rPr lang="en-US" b="0" i="0" u="none" strike="noStrike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判定条件过于宽松，导致类别空间发生塌缩，效果不理想。</a:t>
              </a:r>
              <a:br>
                <a:rPr lang="en-US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b="0" i="0" u="none" strike="noStrike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r>
                <a:rPr lang="en-US" b="1" i="0" u="none" strike="noStrike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V4策略：</a:t>
              </a:r>
              <a:r>
                <a:rPr lang="en-US" b="0" i="0" u="none" strike="noStrike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在所有多标签测试集上，均取得了最高或接近最高的准确率。</a:t>
              </a:r>
              <a:endParaRPr lang="en-US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aphicFrame>
        <p:nvGraphicFramePr>
          <p:cNvPr id="6" name="表格 5"/>
          <p:cNvGraphicFramePr/>
          <p:nvPr/>
        </p:nvGraphicFramePr>
        <p:xfrm>
          <a:off x="210185" y="1057275"/>
          <a:ext cx="5963285" cy="237871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571625"/>
                <a:gridCol w="1569085"/>
                <a:gridCol w="1511300"/>
                <a:gridCol w="1311275"/>
              </a:tblGrid>
              <a:tr h="597535"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数据集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原始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UGC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准确率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加权聚合准确率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变化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(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百分点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)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</a:tr>
              <a:tr h="597535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Blogcatalog</a:t>
                      </a:r>
                      <a:endParaRPr lang="en-US" altLang="zh-CN" sz="1600" b="1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0.3548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B91C1C"/>
                          </a:solidFill>
                          <a:latin typeface="Arial" panose="020B0604020202020204"/>
                          <a:ea typeface="Arial" panose="020B0604020202020204"/>
                        </a:rPr>
                        <a:t>0.3731</a:t>
                      </a:r>
                      <a:endParaRPr lang="en-US" altLang="zh-CN" sz="1600" b="1">
                        <a:solidFill>
                          <a:srgbClr val="B91C1C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16A34A"/>
                          </a:solidFill>
                          <a:latin typeface="Arial" panose="020B0604020202020204"/>
                          <a:ea typeface="Arial" panose="020B0604020202020204"/>
                        </a:rPr>
                        <a:t>+1.83</a:t>
                      </a:r>
                      <a:endParaRPr lang="en-US" altLang="zh-CN" sz="1600">
                        <a:solidFill>
                          <a:srgbClr val="16A34A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586105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Flickr</a:t>
                      </a:r>
                      <a:endParaRPr lang="en-US" altLang="zh-CN" sz="1600" b="1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0.2323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B91C1C"/>
                          </a:solidFill>
                          <a:latin typeface="Arial" panose="020B0604020202020204"/>
                          <a:ea typeface="Arial" panose="020B0604020202020204"/>
                        </a:rPr>
                        <a:t>0.2337</a:t>
                      </a:r>
                      <a:endParaRPr lang="en-US" altLang="zh-CN" sz="1600" b="1">
                        <a:solidFill>
                          <a:srgbClr val="B91C1C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16A34A"/>
                          </a:solidFill>
                          <a:latin typeface="Arial" panose="020B0604020202020204"/>
                          <a:ea typeface="Arial" panose="020B0604020202020204"/>
                        </a:rPr>
                        <a:t>+0.14</a:t>
                      </a:r>
                      <a:endParaRPr lang="en-US" altLang="zh-CN" sz="1600">
                        <a:solidFill>
                          <a:srgbClr val="16A34A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</a:tr>
              <a:tr h="597535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Tweibo_sampled</a:t>
                      </a:r>
                      <a:endParaRPr lang="en-US" altLang="zh-CN" sz="1600" b="1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0.3785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B91C1C"/>
                          </a:solidFill>
                          <a:latin typeface="Arial" panose="020B0604020202020204"/>
                          <a:ea typeface="Arial" panose="020B0604020202020204"/>
                        </a:rPr>
                        <a:t>0.3950</a:t>
                      </a:r>
                      <a:endParaRPr lang="en-US" altLang="zh-CN" sz="1600" b="1">
                        <a:solidFill>
                          <a:srgbClr val="B91C1C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16A34A"/>
                          </a:solidFill>
                          <a:latin typeface="Arial" panose="020B0604020202020204"/>
                          <a:ea typeface="Arial" panose="020B0604020202020204"/>
                        </a:rPr>
                        <a:t>+1.65</a:t>
                      </a:r>
                      <a:endParaRPr lang="en-US" altLang="zh-CN" sz="1600">
                        <a:solidFill>
                          <a:srgbClr val="16A34A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4699000" y="694055"/>
            <a:ext cx="1980565" cy="363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 </a:t>
            </a:r>
            <a:r>
              <a:rPr lang="zh-CN" altLang="en-US" sz="16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压缩率下</a:t>
            </a:r>
            <a:endParaRPr lang="zh-CN" altLang="en-US" sz="1600" b="1">
              <a:solidFill>
                <a:srgbClr val="6B02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5495290" y="4064000"/>
          <a:ext cx="6530340" cy="2638425"/>
        </p:xfrm>
        <a:graphic>
          <a:graphicData uri="http://schemas.openxmlformats.org/drawingml/2006/table">
            <a:tbl>
              <a:tblPr/>
              <a:tblGrid>
                <a:gridCol w="650875"/>
                <a:gridCol w="850265"/>
                <a:gridCol w="1024255"/>
                <a:gridCol w="1252220"/>
                <a:gridCol w="1017270"/>
                <a:gridCol w="1735455"/>
              </a:tblGrid>
              <a:tr h="527685"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策略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类别数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Accuracy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平均标签纯度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低纯度超节点占比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综合评价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0261"/>
                    </a:solidFill>
                  </a:tcPr>
                </a:tc>
              </a:tr>
              <a:tr h="527685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V1</a:t>
                      </a:r>
                      <a:endParaRPr lang="en-US" altLang="zh-CN" sz="1600" b="1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151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B91C1C"/>
                          </a:solidFill>
                          <a:latin typeface="Arial" panose="020B0604020202020204"/>
                          <a:ea typeface="Arial" panose="020B0604020202020204"/>
                        </a:rPr>
                        <a:t>0.3851</a:t>
                      </a:r>
                      <a:endParaRPr lang="en-US" altLang="zh-CN" sz="1600">
                        <a:solidFill>
                          <a:srgbClr val="B91C1C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0.5948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0.6196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类别保留最多，准确率最低</a:t>
                      </a:r>
                      <a:endParaRPr lang="zh-CN" altLang="en-US" sz="1600">
                        <a:solidFill>
                          <a:srgbClr val="505050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527685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V2</a:t>
                      </a:r>
                      <a:endParaRPr lang="en-US" altLang="zh-CN" sz="1600" b="1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1600">
                        <a:solidFill>
                          <a:srgbClr val="C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16A34A"/>
                          </a:solidFill>
                          <a:latin typeface="Arial" panose="020B0604020202020204"/>
                          <a:ea typeface="Arial" panose="020B0604020202020204"/>
                        </a:rPr>
                        <a:t>1.0000</a:t>
                      </a:r>
                      <a:endParaRPr lang="en-US" altLang="zh-CN" sz="1600">
                        <a:solidFill>
                          <a:srgbClr val="16A34A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1.0000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0.0000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准确率极高，</a:t>
                      </a:r>
                      <a:r>
                        <a:rPr lang="zh-CN" altLang="en-US" sz="1600" b="1">
                          <a:solidFill>
                            <a:srgbClr val="C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类别塌缩严重</a:t>
                      </a:r>
                      <a:endParaRPr lang="zh-CN" altLang="en-US" sz="1600" b="1">
                        <a:solidFill>
                          <a:srgbClr val="C00000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</a:tr>
              <a:tr h="527685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V3</a:t>
                      </a:r>
                      <a:endParaRPr lang="en-US" altLang="zh-CN" sz="1600" b="1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73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0.6822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0.7644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0.4264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solidFill>
                            <a:srgbClr val="5050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纯度较好，平衡性较强</a:t>
                      </a:r>
                      <a:endParaRPr lang="zh-CN" altLang="en-US" sz="1600">
                        <a:solidFill>
                          <a:srgbClr val="505050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527685"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V4</a:t>
                      </a:r>
                      <a:endParaRPr lang="en-US" altLang="zh-CN" sz="1600" b="1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72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 b="1">
                          <a:solidFill>
                            <a:srgbClr val="16A34A"/>
                          </a:solidFill>
                          <a:latin typeface="Arial" panose="020B0604020202020204"/>
                          <a:ea typeface="Arial" panose="020B0604020202020204"/>
                        </a:rPr>
                        <a:t>0.7427</a:t>
                      </a:r>
                      <a:endParaRPr lang="en-US" altLang="zh-CN" sz="1600" b="1">
                        <a:solidFill>
                          <a:srgbClr val="16A34A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0.6699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solidFill>
                            <a:srgbClr val="505050"/>
                          </a:solidFill>
                          <a:latin typeface="Arial" panose="020B0604020202020204"/>
                          <a:ea typeface="Arial" panose="020B0604020202020204"/>
                        </a:rPr>
                        <a:t>0.5639</a:t>
                      </a:r>
                      <a:endParaRPr lang="en-US" altLang="zh-CN" sz="1600">
                        <a:solidFill>
                          <a:srgbClr val="50505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rgbClr val="16A34A"/>
                          </a:solidFill>
                          <a:latin typeface="Noto Sans SC" panose="020B0200000000000000" charset="-122"/>
                          <a:ea typeface="Noto Sans SC" panose="020B0200000000000000" charset="-122"/>
                        </a:rPr>
                        <a:t>保留类别较多，综合表现最优</a:t>
                      </a:r>
                      <a:endParaRPr lang="zh-CN" altLang="en-US" sz="1600" b="1">
                        <a:solidFill>
                          <a:srgbClr val="16A34A"/>
                        </a:solidFill>
                        <a:latin typeface="Noto Sans SC" panose="020B0200000000000000" charset="-122"/>
                        <a:ea typeface="Noto Sans SC" panose="020B0200000000000000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5FF"/>
                    </a:solidFill>
                  </a:tcPr>
                </a:tc>
              </a:tr>
            </a:tbl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5495290" y="3693160"/>
            <a:ext cx="5257165" cy="363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Facebook </a:t>
            </a:r>
            <a:r>
              <a:rPr lang="zh-CN" altLang="en-US" sz="16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数据集多标签策略对比（目标压缩率 70%）</a:t>
            </a:r>
            <a:endParaRPr lang="zh-CN" altLang="en-US" sz="1600" b="1">
              <a:solidFill>
                <a:srgbClr val="6B02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25616/Desktop/640 (1).jpg640 (1)"/>
          <p:cNvPicPr>
            <a:picLocks noChangeAspect="1"/>
          </p:cNvPicPr>
          <p:nvPr/>
        </p:nvPicPr>
        <p:blipFill>
          <a:blip r:embed="rId1">
            <a:alphaModFix amt="70000"/>
          </a:blip>
          <a:srcRect t="24786" b="24786"/>
          <a:stretch>
            <a:fillRect/>
          </a:stretch>
        </p:blipFill>
        <p:spPr>
          <a:xfrm>
            <a:off x="0" y="0"/>
            <a:ext cx="12191999" cy="391114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kern="1200">
                <a:sym typeface="+mn-ea"/>
              </a:endParaRPr>
            </a:p>
          </p:txBody>
        </p:sp>
        <p:sp>
          <p:nvSpPr>
            <p:cNvPr id="7" name="直角三角形 6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kern="1200">
                <a:sym typeface="+mn-ea"/>
              </a:endParaRPr>
            </a:p>
          </p:txBody>
        </p:sp>
      </p:grpSp>
      <p:sp>
        <p:nvSpPr>
          <p:cNvPr id="9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ea"/>
                <a:sym typeface="+mn-lt"/>
              </a:rPr>
              <a:t>0</a:t>
            </a:r>
            <a:r>
              <a:rPr lang="en-US" altLang="zh-CN" sz="720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latin typeface="Arial Black" panose="020B0A04020102020204" pitchFamily="34" charset="0"/>
                <a:ea typeface="微软雅黑" panose="020B0503020204020204" charset="-122"/>
                <a:cs typeface="+mn-ea"/>
                <a:sym typeface="+mn-lt"/>
              </a:rPr>
              <a:t>3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867834"/>
            <a:ext cx="6424116" cy="83756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系统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设计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"/>
          </a:blip>
          <a:srcRect t="15" b="15"/>
          <a:stretch>
            <a:fillRect/>
          </a:stretch>
        </p:blipFill>
        <p:spPr>
          <a:xfrm>
            <a:off x="7924800" y="2298700"/>
            <a:ext cx="5803900" cy="576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" name="AutoShape 2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90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3200" b="1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系统总体设计</a:t>
            </a:r>
            <a:endParaRPr lang="en-US" sz="32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038600" y="317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B/S 架构与四层模型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223000" y="1397000"/>
            <a:ext cx="571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6223000" y="139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477000" y="1651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B02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用户交互层 (User Interaction)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提供数据上传、参数配置、结果展示和可视化交互的Web界面，实现用户与系统的无缝连接。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223000" y="2730500"/>
            <a:ext cx="571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6223000" y="2765425"/>
            <a:ext cx="76200" cy="1206500"/>
          </a:xfrm>
          <a:prstGeom prst="roundRect">
            <a:avLst>
              <a:gd name="adj" fmla="val 0"/>
            </a:avLst>
          </a:prstGeom>
          <a:solidFill>
            <a:srgbClr val="9E3A9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477000" y="2841625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9E3A9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业务处理层 (Business Logic)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Flask 轻量级框架，负责前端请求解析、后台任务调度和系统运行状态的统一维护与管理。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223000" y="4032250"/>
            <a:ext cx="571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223000" y="4032250"/>
            <a:ext cx="76200" cy="1206500"/>
          </a:xfrm>
          <a:prstGeom prst="roundRect">
            <a:avLst>
              <a:gd name="adj" fmla="val 0"/>
            </a:avLst>
          </a:prstGeom>
          <a:solidFill>
            <a:srgbClr val="CA6E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6477000" y="41275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CA6E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算法计算层 (Core Algorithm)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系统核心层，采用 Python 语言结合 PyTorch Geometric 库，高效执行图粗化优化与 GNN 模型推理计算。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6223000" y="5334000"/>
            <a:ext cx="571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6223000" y="533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8A2D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6477000" y="5461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BE5A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数据存储层 (Data Storage)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采用混合存储架构：MySQL 关系型数据库管理系统元数据，文件系统</a:t>
            </a:r>
            <a:r>
              <a:rPr lang="zh-CN" alt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存储大规模原始数据、日志文件等</a:t>
            </a:r>
            <a:endParaRPr lang="zh-CN" alt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055" y="1862455"/>
            <a:ext cx="6131560" cy="4018915"/>
          </a:xfrm>
          <a:prstGeom prst="rect">
            <a:avLst/>
          </a:prstGeom>
        </p:spPr>
      </p:pic>
      <p:pic>
        <p:nvPicPr>
          <p:cNvPr id="20" name="Picture 5"/>
          <p:cNvPicPr>
            <a:picLocks noChangeAspect="1"/>
          </p:cNvPicPr>
          <p:nvPr/>
        </p:nvPicPr>
        <p:blipFill>
          <a:blip r:embed="rId16"/>
          <a:srcRect t="32926" b="32926"/>
          <a:stretch>
            <a:fillRect/>
          </a:stretch>
        </p:blipFill>
        <p:spPr>
          <a:xfrm>
            <a:off x="9194800" y="203200"/>
            <a:ext cx="26035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1" name="Picture 7"/>
          <p:cNvPicPr>
            <a:picLocks noChangeAspect="1"/>
          </p:cNvPicPr>
          <p:nvPr/>
        </p:nvPicPr>
        <p:blipFill>
          <a:blip r:embed="rId17"/>
          <a:srcRect l="576" r="576"/>
          <a:stretch>
            <a:fillRect/>
          </a:stretch>
        </p:blipFill>
        <p:spPr>
          <a:xfrm>
            <a:off x="304800" y="6375400"/>
            <a:ext cx="22733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04900" y="241300"/>
            <a:ext cx="381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系统功能实现展示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32926" b="32926"/>
          <a:stretch>
            <a:fillRect/>
          </a:stretch>
        </p:blipFill>
        <p:spPr>
          <a:xfrm>
            <a:off x="9194800" y="203200"/>
            <a:ext cx="26035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576" r="576"/>
          <a:stretch>
            <a:fillRect/>
          </a:stretch>
        </p:blipFill>
        <p:spPr>
          <a:xfrm>
            <a:off x="304800" y="6375400"/>
            <a:ext cx="22733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19" name="组合 18"/>
          <p:cNvGrpSpPr/>
          <p:nvPr/>
        </p:nvGrpSpPr>
        <p:grpSpPr>
          <a:xfrm>
            <a:off x="3150870" y="1244600"/>
            <a:ext cx="2826385" cy="1382395"/>
            <a:chOff x="800" y="1600"/>
            <a:chExt cx="5220" cy="2164"/>
          </a:xfrm>
        </p:grpSpPr>
        <p:sp>
          <p:nvSpPr>
            <p:cNvPr id="7" name="AutoShape 7"/>
            <p:cNvSpPr/>
            <p:nvPr/>
          </p:nvSpPr>
          <p:spPr>
            <a:xfrm>
              <a:off x="800" y="1600"/>
              <a:ext cx="5220" cy="2163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254000" algn="ctr" rotWithShape="0">
                <a:srgbClr val="00000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800" y="1600"/>
              <a:ext cx="5219" cy="216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127000" tIns="127000" rIns="127000" bIns="0" rtlCol="0" anchor="t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>
                  <a:solidFill>
                    <a:srgbClr val="6B026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02. 粗化运行与状态监控</a:t>
              </a:r>
              <a:endParaRPr lang="en-US" sz="1100"/>
            </a:p>
            <a:p>
              <a:pPr indent="0" algn="l">
                <a:lnSpc>
                  <a:spcPct val="117000"/>
                </a:lnSpc>
                <a:spcBef>
                  <a:spcPts val="800"/>
                </a:spcBef>
              </a:pPr>
              <a:r>
                <a:rPr lang="en-US">
                  <a:solidFill>
                    <a:srgbClr val="505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后台执行UGC粗化流程，前端提供实时状态监控面板</a:t>
              </a:r>
              <a:r>
                <a:rPr lang="zh-CN" altLang="en-US">
                  <a:solidFill>
                    <a:srgbClr val="50505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。</a:t>
              </a:r>
              <a:endParaRPr lang="zh-CN" altLang="en-US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35255" y="1257300"/>
            <a:ext cx="2837815" cy="1382395"/>
            <a:chOff x="800" y="1600"/>
            <a:chExt cx="5220" cy="2164"/>
          </a:xfrm>
        </p:grpSpPr>
        <p:sp>
          <p:nvSpPr>
            <p:cNvPr id="21" name="AutoShape 7"/>
            <p:cNvSpPr/>
            <p:nvPr/>
          </p:nvSpPr>
          <p:spPr>
            <a:xfrm>
              <a:off x="800" y="1600"/>
              <a:ext cx="5220" cy="2163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254000" algn="ctr" rotWithShape="0">
                <a:srgbClr val="00000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2" name="AutoShape 9"/>
            <p:cNvSpPr/>
            <p:nvPr/>
          </p:nvSpPr>
          <p:spPr>
            <a:xfrm>
              <a:off x="800" y="1600"/>
              <a:ext cx="5219" cy="216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127000" tIns="127000" rIns="127000" bIns="0" rtlCol="0" anchor="t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6B026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01. 数据上传与参数配置</a:t>
              </a:r>
              <a:endParaRPr lang="en-US" sz="1100"/>
            </a:p>
            <a:p>
              <a:pPr indent="0" algn="l">
                <a:lnSpc>
                  <a:spcPct val="117000"/>
                </a:lnSpc>
                <a:spcBef>
                  <a:spcPts val="800"/>
                </a:spcBef>
              </a:pPr>
              <a:r>
                <a:rPr lang="en-US" b="0" i="0" u="none" strike="noStrike">
                  <a:solidFill>
                    <a:srgbClr val="505050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用户可上传自定义数据集或选择内置数据集，并灵活配置关键实验参数</a:t>
              </a:r>
              <a:r>
                <a:rPr lang="zh-CN" altLang="en-US" b="0" i="0" u="none" strike="noStrike">
                  <a:solidFill>
                    <a:srgbClr val="505050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zh-CN" altLang="en-US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47320" y="2957195"/>
            <a:ext cx="2825750" cy="1383030"/>
            <a:chOff x="800" y="1600"/>
            <a:chExt cx="5220" cy="2470"/>
          </a:xfrm>
        </p:grpSpPr>
        <p:sp>
          <p:nvSpPr>
            <p:cNvPr id="24" name="AutoShape 7"/>
            <p:cNvSpPr/>
            <p:nvPr/>
          </p:nvSpPr>
          <p:spPr>
            <a:xfrm>
              <a:off x="800" y="1600"/>
              <a:ext cx="5220" cy="247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254000" algn="ctr" rotWithShape="0">
                <a:srgbClr val="00000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5" name="AutoShape 9"/>
            <p:cNvSpPr/>
            <p:nvPr/>
          </p:nvSpPr>
          <p:spPr>
            <a:xfrm>
              <a:off x="800" y="1600"/>
              <a:ext cx="5219" cy="246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127000" tIns="127000" rIns="127000" bIns="0" rtlCol="0" anchor="t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>
                  <a:solidFill>
                    <a:srgbClr val="6B026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03. 结果分析与指标展示</a:t>
              </a:r>
              <a:endParaRPr lang="en-US" sz="1100"/>
            </a:p>
            <a:p>
              <a:pPr indent="0" algn="l">
                <a:lnSpc>
                  <a:spcPct val="117000"/>
                </a:lnSpc>
                <a:spcBef>
                  <a:spcPts val="800"/>
                </a:spcBef>
              </a:pPr>
              <a:r>
                <a:rPr lang="en-US">
                  <a:solidFill>
                    <a:srgbClr val="505050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以数据卡片形式直观呈现核心评估指标，帮助用户快速判断粗化质量。</a:t>
              </a:r>
              <a:endParaRPr lang="en-US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150870" y="2966720"/>
            <a:ext cx="2866390" cy="1374140"/>
            <a:chOff x="800" y="1600"/>
            <a:chExt cx="5220" cy="2164"/>
          </a:xfrm>
        </p:grpSpPr>
        <p:sp>
          <p:nvSpPr>
            <p:cNvPr id="27" name="AutoShape 7"/>
            <p:cNvSpPr/>
            <p:nvPr/>
          </p:nvSpPr>
          <p:spPr>
            <a:xfrm>
              <a:off x="800" y="1600"/>
              <a:ext cx="5220" cy="2163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254000" algn="ctr" rotWithShape="0">
                <a:srgbClr val="00000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8" name="AutoShape 9"/>
            <p:cNvSpPr/>
            <p:nvPr/>
          </p:nvSpPr>
          <p:spPr>
            <a:xfrm>
              <a:off x="800" y="1600"/>
              <a:ext cx="5219" cy="216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127000" tIns="127000" rIns="127000" bIns="0" rtlCol="0" anchor="t" anchorCtr="0"/>
            <a:lstStyle/>
            <a:p>
              <a:pPr indent="0" algn="l">
                <a:lnSpc>
                  <a:spcPct val="117000"/>
                </a:lnSpc>
                <a:spcBef>
                  <a:spcPts val="800"/>
                </a:spcBef>
              </a:pPr>
              <a:r>
                <a:rPr lang="en-US" sz="1800" b="1">
                  <a:solidFill>
                    <a:srgbClr val="6B026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04. 图可视化交互</a:t>
              </a:r>
              <a:endParaRPr lang="en-US" sz="18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0" algn="l">
                <a:lnSpc>
                  <a:spcPct val="117000"/>
                </a:lnSpc>
                <a:spcBef>
                  <a:spcPts val="800"/>
                </a:spcBef>
              </a:pPr>
              <a:r>
                <a:rPr lang="zh-CN" altLang="en-US" b="0" i="0" u="none" strike="noStrike">
                  <a:solidFill>
                    <a:srgbClr val="505050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基于粗图结构进行可视化展示，提供粗图与原图联动视图，增强粗化结果的可解释性。</a:t>
              </a:r>
              <a:endParaRPr lang="zh-CN" altLang="en-US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659255" y="4671060"/>
            <a:ext cx="2837815" cy="1374140"/>
            <a:chOff x="800" y="1600"/>
            <a:chExt cx="5220" cy="2164"/>
          </a:xfrm>
        </p:grpSpPr>
        <p:sp>
          <p:nvSpPr>
            <p:cNvPr id="30" name="AutoShape 7"/>
            <p:cNvSpPr/>
            <p:nvPr/>
          </p:nvSpPr>
          <p:spPr>
            <a:xfrm>
              <a:off x="800" y="1600"/>
              <a:ext cx="5220" cy="2163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254000" algn="ctr" rotWithShape="0">
                <a:srgbClr val="000000">
                  <a:alpha val="1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1" name="AutoShape 9"/>
            <p:cNvSpPr/>
            <p:nvPr/>
          </p:nvSpPr>
          <p:spPr>
            <a:xfrm>
              <a:off x="800" y="1600"/>
              <a:ext cx="5219" cy="216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127000" tIns="127000" rIns="127000" bIns="0" rtlCol="0" anchor="t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>
                  <a:solidFill>
                    <a:srgbClr val="6B026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05. GNN分类测试</a:t>
              </a:r>
              <a:endParaRPr lang="en-US" sz="1100"/>
            </a:p>
            <a:p>
              <a:pPr indent="0" algn="l">
                <a:lnSpc>
                  <a:spcPct val="117000"/>
                </a:lnSpc>
                <a:spcBef>
                  <a:spcPts val="800"/>
                </a:spcBef>
              </a:pPr>
              <a:r>
                <a:rPr lang="zh-CN" altLang="en-US" b="0" i="0" u="none" strike="noStrike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基于粗化图执行下游节点分类实验，用于验证粗图对任务信息的保留能力。</a:t>
              </a:r>
              <a:endParaRPr lang="zh-CN" altLang="en-US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25616/Desktop/微信图片_20250724002948.jpg微信图片_20250724002948"/>
          <p:cNvPicPr>
            <a:picLocks noChangeAspect="1"/>
          </p:cNvPicPr>
          <p:nvPr/>
        </p:nvPicPr>
        <p:blipFill>
          <a:blip r:embed="rId1">
            <a:alphaModFix amt="70000"/>
          </a:blip>
          <a:srcRect t="19484" b="13069"/>
          <a:stretch>
            <a:fillRect/>
          </a:stretch>
        </p:blipFill>
        <p:spPr>
          <a:xfrm>
            <a:off x="0" y="0"/>
            <a:ext cx="12192000" cy="396049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kern="1200">
                <a:sym typeface="+mn-ea"/>
              </a:endParaRPr>
            </a:p>
          </p:txBody>
        </p:sp>
        <p:sp>
          <p:nvSpPr>
            <p:cNvPr id="7" name="直角三角形 6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kern="1200">
                <a:sym typeface="+mn-ea"/>
              </a:endParaRPr>
            </a:p>
          </p:txBody>
        </p:sp>
      </p:grpSp>
      <p:sp>
        <p:nvSpPr>
          <p:cNvPr id="9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ea"/>
                <a:sym typeface="+mn-lt"/>
              </a:rPr>
              <a:t>04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780204"/>
            <a:ext cx="6424116" cy="83756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总结与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展望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04900" y="241300"/>
            <a:ext cx="30607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4500" y="1905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96900" y="342900"/>
            <a:ext cx="457200" cy="4572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7692" t="36153" r="13461" b="36923"/>
          <a:stretch>
            <a:fillRect/>
          </a:stretch>
        </p:blipFill>
        <p:spPr>
          <a:xfrm>
            <a:off x="9194800" y="203200"/>
            <a:ext cx="26035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4800" y="6375400"/>
            <a:ext cx="22733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048000" y="1295400"/>
            <a:ext cx="8636000" cy="1371600"/>
          </a:xfrm>
          <a:prstGeom prst="roundRect">
            <a:avLst>
              <a:gd name="adj" fmla="val 7407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 rot="-5400000">
            <a:off x="2832100" y="1612900"/>
            <a:ext cx="850900" cy="762000"/>
          </a:xfrm>
          <a:prstGeom prst="flowChartOffpageConnector">
            <a:avLst/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3708400" y="1600200"/>
            <a:ext cx="1333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研究总结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5054600" y="1574800"/>
            <a:ext cx="6489700" cy="850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UGC 方法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进行优化</a:t>
            </a:r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与系统实现；提出相似度加权特征聚合和多标签处理策略，补充评价指标，并通过真实数据集实验验证了方法有效性与系统可用性。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2946400" y="1790700"/>
            <a:ext cx="660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3048000" y="3009900"/>
            <a:ext cx="8636000" cy="1371600"/>
          </a:xfrm>
          <a:prstGeom prst="roundRect">
            <a:avLst>
              <a:gd name="adj" fmla="val 7407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 rot="-5400000">
            <a:off x="2832100" y="3314700"/>
            <a:ext cx="850900" cy="762000"/>
          </a:xfrm>
          <a:prstGeom prst="flowChartOffpageConnector">
            <a:avLst/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3606800" y="3333750"/>
            <a:ext cx="1429385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特征矩阵优化</a:t>
            </a:r>
            <a:endParaRPr lang="zh-CN" alt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5041900" y="3349625"/>
            <a:ext cx="6489700" cy="6673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面向高维特征和大规模社交网络数据，后续可引入特征矩阵稀疏化、特征选择和分块计算机制，降低特征矩阵与邻接矩阵拼接带来的内存开销。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2946400" y="3505200"/>
            <a:ext cx="660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3048000" y="4711700"/>
            <a:ext cx="8636000" cy="1371600"/>
          </a:xfrm>
          <a:prstGeom prst="roundRect">
            <a:avLst>
              <a:gd name="adj" fmla="val 7407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BFBFBF">
                <a:alpha val="100000"/>
              </a:srgbClr>
            </a:solidFill>
            <a:prstDash val="solid"/>
            <a:miter lim="8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 rot="-5400000">
            <a:off x="2832100" y="5016500"/>
            <a:ext cx="850900" cy="762000"/>
          </a:xfrm>
          <a:prstGeom prst="flowChartOffpageConnector">
            <a:avLst/>
          </a:pr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3638550" y="5067300"/>
            <a:ext cx="1416685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模型与任务扩展</a:t>
            </a:r>
            <a:endParaRPr lang="en-US" sz="2000" b="1">
              <a:solidFill>
                <a:srgbClr val="6B02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5194300" y="5102860"/>
            <a:ext cx="6489700" cy="6629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接入更多 GNN 模型和图学习任务，拓展系统在社区发现、链路预测、用户分群等场景中的应用能力。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17"/>
            </p:custDataLst>
          </p:nvPr>
        </p:nvSpPr>
        <p:spPr>
          <a:xfrm>
            <a:off x="2946400" y="5194300"/>
            <a:ext cx="660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>
            <a:fillRect/>
          </a:stretch>
        </p:blipFill>
        <p:spPr>
          <a:xfrm>
            <a:off x="7924800" y="2298700"/>
            <a:ext cx="5803900" cy="576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-88900" y="1422400"/>
            <a:ext cx="2616200" cy="444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5400000" algn="ctr" rotWithShape="0">
              <a:srgbClr val="767171">
                <a:alpha val="10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70000"/>
          </a:blip>
          <a:srcRect t="21476" b="21476"/>
          <a:stretch>
            <a:fillRect/>
          </a:stretch>
        </p:blipFill>
        <p:spPr>
          <a:xfrm>
            <a:off x="0" y="-12700"/>
            <a:ext cx="12192000" cy="3911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46100" y="4318000"/>
            <a:ext cx="11404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sz="5400" b="1" i="0" u="none" strike="noStrike">
                <a:solidFill>
                  <a:srgbClr val="6B02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感谢观看，敬请指正！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02030" y="5791200"/>
            <a:ext cx="1866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答辩人：石家伊</a:t>
            </a:r>
            <a:endParaRPr lang="en-US" sz="16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711200" y="5791200"/>
            <a:ext cx="280845" cy="244354"/>
          </a:xfrm>
          <a:custGeom>
            <a:avLst/>
            <a:gdLst/>
            <a:ahLst/>
            <a:cxnLst/>
            <a:rect l="l" t="t" r="r" b="b"/>
            <a:pathLst>
              <a:path w="280845" h="244354">
                <a:moveTo>
                  <a:pt x="280845" y="195623"/>
                </a:moveTo>
                <a:lnTo>
                  <a:pt x="280845" y="244354"/>
                </a:lnTo>
                <a:lnTo>
                  <a:pt x="0" y="244354"/>
                </a:lnTo>
                <a:lnTo>
                  <a:pt x="0" y="195623"/>
                </a:lnTo>
                <a:lnTo>
                  <a:pt x="227899" y="195623"/>
                </a:lnTo>
                <a:cubicBezTo>
                  <a:pt x="228154" y="185130"/>
                  <a:pt x="226108" y="173473"/>
                  <a:pt x="218947" y="164846"/>
                </a:cubicBezTo>
                <a:cubicBezTo>
                  <a:pt x="212808" y="157385"/>
                  <a:pt x="203088" y="152955"/>
                  <a:pt x="190044" y="152255"/>
                </a:cubicBezTo>
                <a:cubicBezTo>
                  <a:pt x="189020" y="153887"/>
                  <a:pt x="186974" y="155285"/>
                  <a:pt x="184672" y="155285"/>
                </a:cubicBezTo>
                <a:lnTo>
                  <a:pt x="173674" y="155285"/>
                </a:lnTo>
                <a:cubicBezTo>
                  <a:pt x="170349" y="155285"/>
                  <a:pt x="167535" y="152721"/>
                  <a:pt x="167535" y="149457"/>
                </a:cubicBezTo>
                <a:cubicBezTo>
                  <a:pt x="167535" y="146426"/>
                  <a:pt x="170349" y="143861"/>
                  <a:pt x="173674" y="143861"/>
                </a:cubicBezTo>
                <a:lnTo>
                  <a:pt x="184672" y="143861"/>
                </a:lnTo>
                <a:cubicBezTo>
                  <a:pt x="187486" y="143861"/>
                  <a:pt x="189788" y="145494"/>
                  <a:pt x="190555" y="147825"/>
                </a:cubicBezTo>
                <a:cubicBezTo>
                  <a:pt x="204879" y="148758"/>
                  <a:pt x="215622" y="153653"/>
                  <a:pt x="222783" y="162281"/>
                </a:cubicBezTo>
                <a:cubicBezTo>
                  <a:pt x="230969" y="171841"/>
                  <a:pt x="233015" y="184432"/>
                  <a:pt x="232758" y="195623"/>
                </a:cubicBezTo>
                <a:lnTo>
                  <a:pt x="280845" y="195623"/>
                </a:lnTo>
                <a:lnTo>
                  <a:pt x="280845" y="195623"/>
                </a:lnTo>
                <a:close/>
                <a:moveTo>
                  <a:pt x="140423" y="107022"/>
                </a:moveTo>
                <a:cubicBezTo>
                  <a:pt x="172907" y="107022"/>
                  <a:pt x="198996" y="83006"/>
                  <a:pt x="198996" y="53395"/>
                </a:cubicBezTo>
                <a:cubicBezTo>
                  <a:pt x="198996" y="24016"/>
                  <a:pt x="172907" y="0"/>
                  <a:pt x="140423" y="0"/>
                </a:cubicBezTo>
                <a:cubicBezTo>
                  <a:pt x="108194" y="0"/>
                  <a:pt x="81849" y="24016"/>
                  <a:pt x="81849" y="53395"/>
                </a:cubicBezTo>
                <a:cubicBezTo>
                  <a:pt x="81849" y="83006"/>
                  <a:pt x="108194" y="107022"/>
                  <a:pt x="140423" y="107022"/>
                </a:cubicBezTo>
                <a:close/>
                <a:moveTo>
                  <a:pt x="212296" y="169976"/>
                </a:moveTo>
                <a:cubicBezTo>
                  <a:pt x="207949" y="165078"/>
                  <a:pt x="201809" y="162048"/>
                  <a:pt x="193369" y="160882"/>
                </a:cubicBezTo>
                <a:cubicBezTo>
                  <a:pt x="190811" y="162514"/>
                  <a:pt x="187742" y="163446"/>
                  <a:pt x="184672" y="163446"/>
                </a:cubicBezTo>
                <a:lnTo>
                  <a:pt x="173674" y="163446"/>
                </a:lnTo>
                <a:cubicBezTo>
                  <a:pt x="165745" y="163446"/>
                  <a:pt x="158839" y="157385"/>
                  <a:pt x="158839" y="149924"/>
                </a:cubicBezTo>
                <a:cubicBezTo>
                  <a:pt x="158839" y="142462"/>
                  <a:pt x="165489" y="136399"/>
                  <a:pt x="173674" y="136399"/>
                </a:cubicBezTo>
                <a:lnTo>
                  <a:pt x="184672" y="136399"/>
                </a:lnTo>
                <a:cubicBezTo>
                  <a:pt x="188765" y="136399"/>
                  <a:pt x="192857" y="138265"/>
                  <a:pt x="195670" y="141063"/>
                </a:cubicBezTo>
                <a:cubicBezTo>
                  <a:pt x="208459" y="142462"/>
                  <a:pt x="218690" y="147126"/>
                  <a:pt x="226364" y="154587"/>
                </a:cubicBezTo>
                <a:cubicBezTo>
                  <a:pt x="226364" y="154353"/>
                  <a:pt x="226364" y="153887"/>
                  <a:pt x="226364" y="153653"/>
                </a:cubicBezTo>
                <a:lnTo>
                  <a:pt x="223550" y="141530"/>
                </a:lnTo>
                <a:cubicBezTo>
                  <a:pt x="217156" y="122177"/>
                  <a:pt x="200019" y="107022"/>
                  <a:pt x="178278" y="101892"/>
                </a:cubicBezTo>
                <a:cubicBezTo>
                  <a:pt x="168558" y="110286"/>
                  <a:pt x="155002" y="115649"/>
                  <a:pt x="140423" y="115649"/>
                </a:cubicBezTo>
                <a:cubicBezTo>
                  <a:pt x="125843" y="115649"/>
                  <a:pt x="112542" y="110286"/>
                  <a:pt x="102568" y="101892"/>
                </a:cubicBezTo>
                <a:cubicBezTo>
                  <a:pt x="74943" y="108654"/>
                  <a:pt x="54225" y="131503"/>
                  <a:pt x="54225" y="158783"/>
                </a:cubicBezTo>
                <a:lnTo>
                  <a:pt x="54225" y="188162"/>
                </a:lnTo>
                <a:lnTo>
                  <a:pt x="219202" y="188162"/>
                </a:lnTo>
                <a:cubicBezTo>
                  <a:pt x="218180" y="180701"/>
                  <a:pt x="215877" y="174405"/>
                  <a:pt x="212296" y="169976"/>
                </a:cubicBezTo>
                <a:close/>
              </a:path>
            </a:pathLst>
          </a:cu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225800" y="5791200"/>
            <a:ext cx="2336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日期：2026年5月</a:t>
            </a:r>
            <a:endParaRPr lang="en-US" sz="16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2946400" y="5791200"/>
            <a:ext cx="280845" cy="244354"/>
          </a:xfrm>
          <a:custGeom>
            <a:avLst/>
            <a:gdLst/>
            <a:ahLst/>
            <a:cxnLst/>
            <a:rect l="l" t="t" r="r" b="b"/>
            <a:pathLst>
              <a:path w="280845" h="244354">
                <a:moveTo>
                  <a:pt x="78726" y="86613"/>
                </a:moveTo>
                <a:cubicBezTo>
                  <a:pt x="81012" y="86034"/>
                  <a:pt x="83548" y="86215"/>
                  <a:pt x="85794" y="87300"/>
                </a:cubicBezTo>
                <a:lnTo>
                  <a:pt x="133185" y="110197"/>
                </a:lnTo>
                <a:cubicBezTo>
                  <a:pt x="135346" y="109183"/>
                  <a:pt x="137785" y="108654"/>
                  <a:pt x="140390" y="108654"/>
                </a:cubicBezTo>
                <a:cubicBezTo>
                  <a:pt x="142994" y="108654"/>
                  <a:pt x="145489" y="109183"/>
                  <a:pt x="147651" y="110197"/>
                </a:cubicBezTo>
                <a:lnTo>
                  <a:pt x="195042" y="87300"/>
                </a:lnTo>
                <a:cubicBezTo>
                  <a:pt x="199531" y="85131"/>
                  <a:pt x="205185" y="86576"/>
                  <a:pt x="207623" y="90481"/>
                </a:cubicBezTo>
                <a:cubicBezTo>
                  <a:pt x="210118" y="94337"/>
                  <a:pt x="208511" y="99254"/>
                  <a:pt x="204020" y="101423"/>
                </a:cubicBezTo>
                <a:lnTo>
                  <a:pt x="155688" y="124753"/>
                </a:lnTo>
                <a:cubicBezTo>
                  <a:pt x="154247" y="130971"/>
                  <a:pt x="147983" y="135696"/>
                  <a:pt x="140390" y="135696"/>
                </a:cubicBezTo>
                <a:cubicBezTo>
                  <a:pt x="132852" y="135696"/>
                  <a:pt x="126533" y="131020"/>
                  <a:pt x="125147" y="124753"/>
                </a:cubicBezTo>
                <a:lnTo>
                  <a:pt x="76759" y="101423"/>
                </a:lnTo>
                <a:cubicBezTo>
                  <a:pt x="72269" y="99254"/>
                  <a:pt x="70662" y="94337"/>
                  <a:pt x="73156" y="90481"/>
                </a:cubicBezTo>
                <a:cubicBezTo>
                  <a:pt x="74403" y="88529"/>
                  <a:pt x="76440" y="87191"/>
                  <a:pt x="78726" y="86613"/>
                </a:cubicBezTo>
                <a:close/>
                <a:moveTo>
                  <a:pt x="133022" y="25945"/>
                </a:moveTo>
                <a:cubicBezTo>
                  <a:pt x="116895" y="26860"/>
                  <a:pt x="101652" y="30815"/>
                  <a:pt x="88128" y="37134"/>
                </a:cubicBezTo>
                <a:lnTo>
                  <a:pt x="94169" y="46199"/>
                </a:lnTo>
                <a:cubicBezTo>
                  <a:pt x="94724" y="47019"/>
                  <a:pt x="94835" y="47935"/>
                  <a:pt x="94557" y="48804"/>
                </a:cubicBezTo>
                <a:cubicBezTo>
                  <a:pt x="94336" y="49671"/>
                  <a:pt x="93670" y="50395"/>
                  <a:pt x="92784" y="50877"/>
                </a:cubicBezTo>
                <a:cubicBezTo>
                  <a:pt x="91564" y="51504"/>
                  <a:pt x="90068" y="51455"/>
                  <a:pt x="88849" y="50877"/>
                </a:cubicBezTo>
                <a:cubicBezTo>
                  <a:pt x="88238" y="50588"/>
                  <a:pt x="87739" y="50154"/>
                  <a:pt x="87406" y="49623"/>
                </a:cubicBezTo>
                <a:lnTo>
                  <a:pt x="81366" y="40604"/>
                </a:lnTo>
                <a:cubicBezTo>
                  <a:pt x="68229" y="47790"/>
                  <a:pt x="56979" y="57339"/>
                  <a:pt x="48332" y="68527"/>
                </a:cubicBezTo>
                <a:lnTo>
                  <a:pt x="61079" y="74893"/>
                </a:lnTo>
                <a:cubicBezTo>
                  <a:pt x="64572" y="76678"/>
                  <a:pt x="65791" y="80583"/>
                  <a:pt x="63740" y="83670"/>
                </a:cubicBezTo>
                <a:cubicBezTo>
                  <a:pt x="62410" y="85744"/>
                  <a:pt x="59916" y="86901"/>
                  <a:pt x="57366" y="86901"/>
                </a:cubicBezTo>
                <a:cubicBezTo>
                  <a:pt x="56091" y="86901"/>
                  <a:pt x="54816" y="86611"/>
                  <a:pt x="53652" y="86032"/>
                </a:cubicBezTo>
                <a:lnTo>
                  <a:pt x="40960" y="79619"/>
                </a:lnTo>
                <a:cubicBezTo>
                  <a:pt x="34143" y="91578"/>
                  <a:pt x="30152" y="104936"/>
                  <a:pt x="29597" y="119066"/>
                </a:cubicBezTo>
                <a:lnTo>
                  <a:pt x="41680" y="119018"/>
                </a:lnTo>
                <a:cubicBezTo>
                  <a:pt x="43842" y="119018"/>
                  <a:pt x="45616" y="120561"/>
                  <a:pt x="45616" y="122442"/>
                </a:cubicBezTo>
                <a:cubicBezTo>
                  <a:pt x="45616" y="123311"/>
                  <a:pt x="45227" y="124178"/>
                  <a:pt x="44451" y="124854"/>
                </a:cubicBezTo>
                <a:cubicBezTo>
                  <a:pt x="43731" y="125480"/>
                  <a:pt x="42789" y="125818"/>
                  <a:pt x="41736" y="125818"/>
                </a:cubicBezTo>
                <a:lnTo>
                  <a:pt x="29653" y="125866"/>
                </a:lnTo>
                <a:cubicBezTo>
                  <a:pt x="30263" y="139755"/>
                  <a:pt x="34253" y="152919"/>
                  <a:pt x="40960" y="164736"/>
                </a:cubicBezTo>
                <a:lnTo>
                  <a:pt x="53652" y="158321"/>
                </a:lnTo>
                <a:cubicBezTo>
                  <a:pt x="57200" y="156538"/>
                  <a:pt x="61745" y="157598"/>
                  <a:pt x="63740" y="160684"/>
                </a:cubicBezTo>
                <a:cubicBezTo>
                  <a:pt x="65791" y="163770"/>
                  <a:pt x="64572" y="167677"/>
                  <a:pt x="61079" y="169461"/>
                </a:cubicBezTo>
                <a:lnTo>
                  <a:pt x="48332" y="175826"/>
                </a:lnTo>
                <a:cubicBezTo>
                  <a:pt x="57145" y="187208"/>
                  <a:pt x="68562" y="196853"/>
                  <a:pt x="81920" y="204086"/>
                </a:cubicBezTo>
                <a:lnTo>
                  <a:pt x="87906" y="194972"/>
                </a:lnTo>
                <a:cubicBezTo>
                  <a:pt x="88627" y="193911"/>
                  <a:pt x="89902" y="193284"/>
                  <a:pt x="91342" y="193284"/>
                </a:cubicBezTo>
                <a:cubicBezTo>
                  <a:pt x="92008" y="193284"/>
                  <a:pt x="92673" y="193429"/>
                  <a:pt x="93283" y="193718"/>
                </a:cubicBezTo>
                <a:cubicBezTo>
                  <a:pt x="94169" y="194201"/>
                  <a:pt x="94835" y="194923"/>
                  <a:pt x="95112" y="195792"/>
                </a:cubicBezTo>
                <a:cubicBezTo>
                  <a:pt x="95388" y="196660"/>
                  <a:pt x="95222" y="197576"/>
                  <a:pt x="94724" y="198347"/>
                </a:cubicBezTo>
                <a:lnTo>
                  <a:pt x="88737" y="207462"/>
                </a:lnTo>
                <a:cubicBezTo>
                  <a:pt x="102095" y="213636"/>
                  <a:pt x="117116" y="217493"/>
                  <a:pt x="133022" y="218410"/>
                </a:cubicBezTo>
                <a:lnTo>
                  <a:pt x="133022" y="205630"/>
                </a:lnTo>
                <a:cubicBezTo>
                  <a:pt x="133022" y="202061"/>
                  <a:pt x="136348" y="199168"/>
                  <a:pt x="140395" y="199168"/>
                </a:cubicBezTo>
                <a:cubicBezTo>
                  <a:pt x="144497" y="199168"/>
                  <a:pt x="147822" y="202061"/>
                  <a:pt x="147822" y="205630"/>
                </a:cubicBezTo>
                <a:lnTo>
                  <a:pt x="147822" y="218410"/>
                </a:lnTo>
                <a:cubicBezTo>
                  <a:pt x="163951" y="217493"/>
                  <a:pt x="179193" y="213538"/>
                  <a:pt x="192717" y="207173"/>
                </a:cubicBezTo>
                <a:lnTo>
                  <a:pt x="186620" y="198106"/>
                </a:lnTo>
                <a:cubicBezTo>
                  <a:pt x="186121" y="197335"/>
                  <a:pt x="185956" y="196418"/>
                  <a:pt x="186233" y="195551"/>
                </a:cubicBezTo>
                <a:cubicBezTo>
                  <a:pt x="186510" y="194682"/>
                  <a:pt x="187175" y="193911"/>
                  <a:pt x="188062" y="193477"/>
                </a:cubicBezTo>
                <a:cubicBezTo>
                  <a:pt x="188671" y="193187"/>
                  <a:pt x="189337" y="192994"/>
                  <a:pt x="190002" y="192994"/>
                </a:cubicBezTo>
                <a:cubicBezTo>
                  <a:pt x="191386" y="192994"/>
                  <a:pt x="192717" y="193670"/>
                  <a:pt x="193382" y="194682"/>
                </a:cubicBezTo>
                <a:lnTo>
                  <a:pt x="199479" y="203749"/>
                </a:lnTo>
                <a:cubicBezTo>
                  <a:pt x="212560" y="196563"/>
                  <a:pt x="223811" y="187015"/>
                  <a:pt x="232458" y="175826"/>
                </a:cubicBezTo>
                <a:lnTo>
                  <a:pt x="219766" y="169461"/>
                </a:lnTo>
                <a:cubicBezTo>
                  <a:pt x="216219" y="167677"/>
                  <a:pt x="215054" y="163770"/>
                  <a:pt x="217049" y="160684"/>
                </a:cubicBezTo>
                <a:cubicBezTo>
                  <a:pt x="219100" y="157598"/>
                  <a:pt x="223646" y="156538"/>
                  <a:pt x="227137" y="158321"/>
                </a:cubicBezTo>
                <a:lnTo>
                  <a:pt x="239885" y="164687"/>
                </a:lnTo>
                <a:cubicBezTo>
                  <a:pt x="246647" y="152728"/>
                  <a:pt x="250693" y="139369"/>
                  <a:pt x="251192" y="125288"/>
                </a:cubicBezTo>
                <a:lnTo>
                  <a:pt x="239109" y="125288"/>
                </a:lnTo>
                <a:cubicBezTo>
                  <a:pt x="238444" y="125288"/>
                  <a:pt x="237778" y="125143"/>
                  <a:pt x="237169" y="124854"/>
                </a:cubicBezTo>
                <a:cubicBezTo>
                  <a:pt x="235949" y="124275"/>
                  <a:pt x="235229" y="123118"/>
                  <a:pt x="235229" y="121911"/>
                </a:cubicBezTo>
                <a:cubicBezTo>
                  <a:pt x="235229" y="120995"/>
                  <a:pt x="235617" y="120176"/>
                  <a:pt x="236338" y="119501"/>
                </a:cubicBezTo>
                <a:cubicBezTo>
                  <a:pt x="237058" y="118873"/>
                  <a:pt x="238056" y="118487"/>
                  <a:pt x="239109" y="118487"/>
                </a:cubicBezTo>
                <a:lnTo>
                  <a:pt x="251192" y="118487"/>
                </a:lnTo>
                <a:cubicBezTo>
                  <a:pt x="250582" y="104600"/>
                  <a:pt x="246592" y="91434"/>
                  <a:pt x="239885" y="79619"/>
                </a:cubicBezTo>
                <a:lnTo>
                  <a:pt x="227137" y="86032"/>
                </a:lnTo>
                <a:cubicBezTo>
                  <a:pt x="225972" y="86611"/>
                  <a:pt x="224753" y="86901"/>
                  <a:pt x="223478" y="86901"/>
                </a:cubicBezTo>
                <a:cubicBezTo>
                  <a:pt x="220929" y="86901"/>
                  <a:pt x="218435" y="85744"/>
                  <a:pt x="217049" y="83670"/>
                </a:cubicBezTo>
                <a:cubicBezTo>
                  <a:pt x="214998" y="80583"/>
                  <a:pt x="216219" y="76678"/>
                  <a:pt x="219766" y="74893"/>
                </a:cubicBezTo>
                <a:lnTo>
                  <a:pt x="232458" y="68478"/>
                </a:lnTo>
                <a:cubicBezTo>
                  <a:pt x="223700" y="57146"/>
                  <a:pt x="212227" y="47501"/>
                  <a:pt x="198869" y="40268"/>
                </a:cubicBezTo>
                <a:lnTo>
                  <a:pt x="192884" y="49333"/>
                </a:lnTo>
                <a:cubicBezTo>
                  <a:pt x="192218" y="50395"/>
                  <a:pt x="190889" y="51069"/>
                  <a:pt x="189503" y="51069"/>
                </a:cubicBezTo>
                <a:cubicBezTo>
                  <a:pt x="188838" y="51069"/>
                  <a:pt x="188172" y="50926"/>
                  <a:pt x="187562" y="50636"/>
                </a:cubicBezTo>
                <a:cubicBezTo>
                  <a:pt x="185678" y="49671"/>
                  <a:pt x="185012" y="47598"/>
                  <a:pt x="186121" y="45957"/>
                </a:cubicBezTo>
                <a:lnTo>
                  <a:pt x="192108" y="36892"/>
                </a:lnTo>
                <a:cubicBezTo>
                  <a:pt x="178694" y="30719"/>
                  <a:pt x="163730" y="26860"/>
                  <a:pt x="147822" y="25945"/>
                </a:cubicBezTo>
                <a:lnTo>
                  <a:pt x="147822" y="38725"/>
                </a:lnTo>
                <a:cubicBezTo>
                  <a:pt x="147822" y="42292"/>
                  <a:pt x="144497" y="45138"/>
                  <a:pt x="140395" y="45138"/>
                </a:cubicBezTo>
                <a:cubicBezTo>
                  <a:pt x="136348" y="45138"/>
                  <a:pt x="133022" y="42292"/>
                  <a:pt x="133022" y="38725"/>
                </a:cubicBezTo>
                <a:close/>
                <a:moveTo>
                  <a:pt x="140395" y="0"/>
                </a:moveTo>
                <a:cubicBezTo>
                  <a:pt x="217825" y="0"/>
                  <a:pt x="280845" y="54783"/>
                  <a:pt x="280845" y="122152"/>
                </a:cubicBezTo>
                <a:cubicBezTo>
                  <a:pt x="280845" y="189522"/>
                  <a:pt x="217825" y="244354"/>
                  <a:pt x="140395" y="244354"/>
                </a:cubicBezTo>
                <a:cubicBezTo>
                  <a:pt x="62964" y="244354"/>
                  <a:pt x="0" y="189522"/>
                  <a:pt x="0" y="122152"/>
                </a:cubicBezTo>
                <a:cubicBezTo>
                  <a:pt x="0" y="54783"/>
                  <a:pt x="62964" y="0"/>
                  <a:pt x="140395" y="0"/>
                </a:cubicBezTo>
                <a:close/>
              </a:path>
            </a:pathLst>
          </a:custGeom>
          <a:solidFill>
            <a:srgbClr val="6B026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-12700" y="3797300"/>
            <a:ext cx="12192000" cy="165100"/>
          </a:xfrm>
          <a:prstGeom prst="roundRect">
            <a:avLst>
              <a:gd name="adj" fmla="val 0"/>
            </a:avLst>
          </a:prstGeom>
          <a:solidFill>
            <a:srgbClr val="6B0261">
              <a:alpha val="100000"/>
            </a:srgbClr>
          </a:solidFill>
          <a:ln w="12700" cap="flat" cmpd="sng">
            <a:solidFill>
              <a:srgbClr val="6B02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303" r="303"/>
          <a:stretch>
            <a:fillRect/>
          </a:stretch>
        </p:blipFill>
        <p:spPr>
          <a:xfrm>
            <a:off x="9829800" y="6375400"/>
            <a:ext cx="21082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2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3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4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5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6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7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8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9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10.xml><?xml version="1.0" encoding="utf-8"?>
<p:tagLst xmlns:p="http://schemas.openxmlformats.org/presentationml/2006/main">
  <p:tag name="KSO_WM_DIAGRAM_VIRTUALLY_FRAME" val="{&quot;height&quot;:332.35,&quot;left&quot;:485.64149606299213,&quot;top&quot;:130.66692913385828,&quot;width&quot;:498.5}"/>
</p:tagLst>
</file>

<file path=ppt/tags/tag11.xml><?xml version="1.0" encoding="utf-8"?>
<p:tagLst xmlns:p="http://schemas.openxmlformats.org/presentationml/2006/main">
  <p:tag name="KSO_WM_DIAGRAM_VIRTUALLY_FRAME" val="{&quot;height&quot;:477.16393700787404,&quot;left&quot;:53.453307086614174,&quot;top&quot;:54.18212598425197,&quot;width&quot;:885.224409448819}"/>
</p:tagLst>
</file>

<file path=ppt/tags/tag12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3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4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5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6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7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8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19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0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1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2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3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24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25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26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27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28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29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0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1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2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3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4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5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6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7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8.xml><?xml version="1.0" encoding="utf-8"?>
<p:tagLst xmlns:p="http://schemas.openxmlformats.org/presentationml/2006/main">
  <p:tag name="KSO_WM_DIAGRAM_VIRTUALLY_FRAME" val="{&quot;height&quot;:363,&quot;left&quot;:35,&quot;top&quot;:111,&quot;width&quot;:890}"/>
</p:tagLst>
</file>

<file path=ppt/tags/tag39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0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1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2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3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4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5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6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7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8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49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50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51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52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53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54.xml><?xml version="1.0" encoding="utf-8"?>
<p:tagLst xmlns:p="http://schemas.openxmlformats.org/presentationml/2006/main">
  <p:tag name="KSO_WM_DIAGRAM_VIRTUALLY_FRAME" val="{&quot;height&quot;:114.15,&quot;left&quot;:10.9,&quot;top&quot;:421.65,&quot;width&quot;:934.85}"/>
</p:tagLst>
</file>

<file path=ppt/tags/tag55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56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57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58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59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60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61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62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63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64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65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66.xml><?xml version="1.0" encoding="utf-8"?>
<p:tagLst xmlns:p="http://schemas.openxmlformats.org/presentationml/2006/main">
  <p:tag name="KSO_WM_DIAGRAM_VIRTUALLY_FRAME" val="{&quot;height&quot;:369.5,&quot;left&quot;:35,&quot;top&quot;:90.5,&quot;width&quot;:892.7}"/>
</p:tagLst>
</file>

<file path=ppt/tags/tag67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68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69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0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1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2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3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4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5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6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7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8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79.xml><?xml version="1.0" encoding="utf-8"?>
<p:tagLst xmlns:p="http://schemas.openxmlformats.org/presentationml/2006/main">
  <p:tag name="KSO_WM_DIAGRAM_VIRTUALLY_FRAME" val="{&quot;height&quot;:525,&quot;left&quot;:470,&quot;top&quot;:110,&quot;width&quot;:611}"/>
</p:tagLst>
</file>

<file path=ppt/tags/tag80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81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82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83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84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85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86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87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88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89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90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91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92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93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ags/tag94.xml><?xml version="1.0" encoding="utf-8"?>
<p:tagLst xmlns:p="http://schemas.openxmlformats.org/presentationml/2006/main">
  <p:tag name="KSO_WM_DIAGRAM_VIRTUALLY_FRAME" val="{&quot;height&quot;:377,&quot;left&quot;:226.5,&quot;top&quot;:102,&quot;width&quot;:693.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B026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6B026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2973</Words>
  <Application>WPS 演示</Application>
  <PresentationFormat/>
  <Paragraphs>331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16</vt:i4>
      </vt:variant>
    </vt:vector>
  </HeadingPairs>
  <TitlesOfParts>
    <vt:vector size="43" baseType="lpstr">
      <vt:lpstr>Arial</vt:lpstr>
      <vt:lpstr>宋体</vt:lpstr>
      <vt:lpstr>Wingdings</vt:lpstr>
      <vt:lpstr>Arial</vt:lpstr>
      <vt:lpstr>微软雅黑</vt:lpstr>
      <vt:lpstr>等线</vt:lpstr>
      <vt:lpstr>Arial Black</vt:lpstr>
      <vt:lpstr>Roboto Regular</vt:lpstr>
      <vt:lpstr>Roboto Regular </vt:lpstr>
      <vt:lpstr>思源黑体 CN Regular</vt:lpstr>
      <vt:lpstr>黑体</vt:lpstr>
      <vt:lpstr>Noto Sans SC</vt:lpstr>
      <vt:lpstr>Wingdings</vt:lpstr>
      <vt:lpstr>Arial Unicode MS</vt:lpstr>
      <vt:lpstr>Segoe Print</vt:lpstr>
      <vt:lpstr>KSOF28C8D4D9</vt:lpstr>
      <vt:lpstr>等线 Light</vt:lpstr>
      <vt:lpstr>Roboto Regular</vt:lpstr>
      <vt:lpstr>Roboto Regular </vt:lpstr>
      <vt:lpstr>思源黑体 CN Regular</vt:lpstr>
      <vt:lpstr>KSOF28C8607A</vt:lpstr>
      <vt:lpstr>Office 主题​​</vt:lpstr>
      <vt:lpstr>默认主题</vt:lpstr>
      <vt:lpstr>1_Office 主题​​</vt:lpstr>
      <vt:lpstr>1_默认主题</vt:lpstr>
      <vt:lpstr>2_默认主题</vt:lpstr>
      <vt:lpstr>3_默认主题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柠萌°</cp:lastModifiedBy>
  <cp:revision>16</cp:revision>
  <dcterms:created xsi:type="dcterms:W3CDTF">2026-05-20T09:46:00Z</dcterms:created>
  <dcterms:modified xsi:type="dcterms:W3CDTF">2026-05-22T09:52:18Z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61906EC1A5344085B7DED5602EF92CF3_12</vt:lpwstr>
  </property>
</Properties>
</file>